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sldIdLst>
    <p:sldId id="257" r:id="rId3"/>
    <p:sldId id="276" r:id="rId4"/>
    <p:sldId id="259" r:id="rId5"/>
    <p:sldId id="275" r:id="rId6"/>
    <p:sldId id="273" r:id="rId7"/>
    <p:sldId id="277" r:id="rId8"/>
    <p:sldId id="262" r:id="rId9"/>
    <p:sldId id="261" r:id="rId10"/>
    <p:sldId id="278" r:id="rId11"/>
    <p:sldId id="263" r:id="rId12"/>
    <p:sldId id="274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423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8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244558-F362-4E7C-BE00-A07AA34DDB70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2F3DF68-851F-4E31-8266-746C9F37008F}">
      <dgm:prSet/>
      <dgm:spPr/>
      <dgm:t>
        <a:bodyPr/>
        <a:lstStyle/>
        <a:p>
          <a:r>
            <a:rPr lang="en-US" b="1"/>
            <a:t>Beneficence: </a:t>
          </a:r>
          <a:r>
            <a:rPr lang="en-US"/>
            <a:t>Sustainability solutions should aim to produce overall benefits for society and the environment</a:t>
          </a:r>
        </a:p>
      </dgm:t>
    </dgm:pt>
    <dgm:pt modelId="{BF9DB352-8BA9-4597-A127-CA340CE3CDE8}" type="parTrans" cxnId="{C7A8E619-6555-42BA-9F2F-71875E59C78D}">
      <dgm:prSet/>
      <dgm:spPr/>
      <dgm:t>
        <a:bodyPr/>
        <a:lstStyle/>
        <a:p>
          <a:endParaRPr lang="en-US"/>
        </a:p>
      </dgm:t>
    </dgm:pt>
    <dgm:pt modelId="{3749D620-CBE3-47A5-B4B1-DEC565B616A3}" type="sibTrans" cxnId="{C7A8E619-6555-42BA-9F2F-71875E59C78D}">
      <dgm:prSet/>
      <dgm:spPr/>
      <dgm:t>
        <a:bodyPr/>
        <a:lstStyle/>
        <a:p>
          <a:endParaRPr lang="en-US"/>
        </a:p>
      </dgm:t>
    </dgm:pt>
    <dgm:pt modelId="{FE9091A9-FFDE-410C-A873-72447D5B4F34}">
      <dgm:prSet/>
      <dgm:spPr/>
      <dgm:t>
        <a:bodyPr/>
        <a:lstStyle/>
        <a:p>
          <a:r>
            <a:rPr lang="en-US" b="1"/>
            <a:t>Non-maleficence: </a:t>
          </a:r>
          <a:r>
            <a:rPr lang="en-US"/>
            <a:t>Potential harms and risks should be identified and minimized</a:t>
          </a:r>
        </a:p>
      </dgm:t>
    </dgm:pt>
    <dgm:pt modelId="{3EF2BEDB-386C-4ECB-9465-C3B23837BD37}" type="parTrans" cxnId="{E6CE3F00-C216-4069-AC22-7BBEDF5BEA1D}">
      <dgm:prSet/>
      <dgm:spPr/>
      <dgm:t>
        <a:bodyPr/>
        <a:lstStyle/>
        <a:p>
          <a:endParaRPr lang="en-US"/>
        </a:p>
      </dgm:t>
    </dgm:pt>
    <dgm:pt modelId="{4C807FBC-0970-452B-B17E-B461C8679D4F}" type="sibTrans" cxnId="{E6CE3F00-C216-4069-AC22-7BBEDF5BEA1D}">
      <dgm:prSet/>
      <dgm:spPr/>
      <dgm:t>
        <a:bodyPr/>
        <a:lstStyle/>
        <a:p>
          <a:endParaRPr lang="en-US"/>
        </a:p>
      </dgm:t>
    </dgm:pt>
    <dgm:pt modelId="{636F504E-C8FE-4704-9C60-762117A54285}">
      <dgm:prSet/>
      <dgm:spPr/>
      <dgm:t>
        <a:bodyPr/>
        <a:lstStyle/>
        <a:p>
          <a:r>
            <a:rPr lang="en-US" b="1"/>
            <a:t>Shared responsibility: </a:t>
          </a:r>
          <a:r>
            <a:rPr lang="en-US"/>
            <a:t>Sustainability challenges require coordinated action across multiple stakeholders</a:t>
          </a:r>
        </a:p>
      </dgm:t>
    </dgm:pt>
    <dgm:pt modelId="{4669DDE1-A507-4C1F-8041-61ED638EB29F}" type="parTrans" cxnId="{84FF31B1-021E-4E42-85F3-9BD1EF3B867B}">
      <dgm:prSet/>
      <dgm:spPr/>
      <dgm:t>
        <a:bodyPr/>
        <a:lstStyle/>
        <a:p>
          <a:endParaRPr lang="en-US"/>
        </a:p>
      </dgm:t>
    </dgm:pt>
    <dgm:pt modelId="{89A76823-8A91-4A29-92C1-DB566B271059}" type="sibTrans" cxnId="{84FF31B1-021E-4E42-85F3-9BD1EF3B867B}">
      <dgm:prSet/>
      <dgm:spPr/>
      <dgm:t>
        <a:bodyPr/>
        <a:lstStyle/>
        <a:p>
          <a:endParaRPr lang="en-US"/>
        </a:p>
      </dgm:t>
    </dgm:pt>
    <dgm:pt modelId="{A13476C5-80F3-42F6-8ADB-E13BC7B209F7}">
      <dgm:prSet/>
      <dgm:spPr/>
      <dgm:t>
        <a:bodyPr/>
        <a:lstStyle/>
        <a:p>
          <a:r>
            <a:rPr lang="en-US" b="1"/>
            <a:t>Intergenerational justice: </a:t>
          </a:r>
          <a:r>
            <a:rPr lang="en-US"/>
            <a:t>decisions today should consider the impacts on future generations</a:t>
          </a:r>
        </a:p>
      </dgm:t>
    </dgm:pt>
    <dgm:pt modelId="{6CF03364-B29D-460A-8C74-D5731C4AF820}" type="parTrans" cxnId="{DBF069F2-2342-48C5-B66B-6695C131CFBC}">
      <dgm:prSet/>
      <dgm:spPr/>
      <dgm:t>
        <a:bodyPr/>
        <a:lstStyle/>
        <a:p>
          <a:endParaRPr lang="en-US"/>
        </a:p>
      </dgm:t>
    </dgm:pt>
    <dgm:pt modelId="{A16C3265-AF62-4BB1-9E6B-F0C29E52C5D0}" type="sibTrans" cxnId="{DBF069F2-2342-48C5-B66B-6695C131CFBC}">
      <dgm:prSet/>
      <dgm:spPr/>
      <dgm:t>
        <a:bodyPr/>
        <a:lstStyle/>
        <a:p>
          <a:endParaRPr lang="en-US"/>
        </a:p>
      </dgm:t>
    </dgm:pt>
    <dgm:pt modelId="{3727A8D5-87B0-40B8-97BB-EA7C1A4B24A4}">
      <dgm:prSet/>
      <dgm:spPr/>
      <dgm:t>
        <a:bodyPr/>
        <a:lstStyle/>
        <a:p>
          <a:r>
            <a:rPr lang="en-US" b="1"/>
            <a:t>Equity: </a:t>
          </a:r>
          <a:r>
            <a:rPr lang="en-US"/>
            <a:t>sustainability efforts should consider differences in access, resources, and capacity across groups</a:t>
          </a:r>
        </a:p>
      </dgm:t>
    </dgm:pt>
    <dgm:pt modelId="{EF2403AF-D76E-432A-BF25-01B24DE97711}" type="parTrans" cxnId="{1FEDF295-61B0-4521-9BD1-28F49AFF7034}">
      <dgm:prSet/>
      <dgm:spPr/>
      <dgm:t>
        <a:bodyPr/>
        <a:lstStyle/>
        <a:p>
          <a:endParaRPr lang="en-US"/>
        </a:p>
      </dgm:t>
    </dgm:pt>
    <dgm:pt modelId="{660E6EF8-185C-455D-B42B-5AB38EB74AF3}" type="sibTrans" cxnId="{1FEDF295-61B0-4521-9BD1-28F49AFF7034}">
      <dgm:prSet/>
      <dgm:spPr/>
      <dgm:t>
        <a:bodyPr/>
        <a:lstStyle/>
        <a:p>
          <a:endParaRPr lang="en-US"/>
        </a:p>
      </dgm:t>
    </dgm:pt>
    <dgm:pt modelId="{CE680A85-A51F-43F1-A9C8-510822DA6613}" type="pres">
      <dgm:prSet presAssocID="{F2244558-F362-4E7C-BE00-A07AA34DDB70}" presName="diagram" presStyleCnt="0">
        <dgm:presLayoutVars>
          <dgm:dir/>
          <dgm:resizeHandles val="exact"/>
        </dgm:presLayoutVars>
      </dgm:prSet>
      <dgm:spPr/>
    </dgm:pt>
    <dgm:pt modelId="{7CFF210F-77D3-403B-9852-CACC12ACC897}" type="pres">
      <dgm:prSet presAssocID="{12F3DF68-851F-4E31-8266-746C9F37008F}" presName="node" presStyleLbl="node1" presStyleIdx="0" presStyleCnt="5">
        <dgm:presLayoutVars>
          <dgm:bulletEnabled val="1"/>
        </dgm:presLayoutVars>
      </dgm:prSet>
      <dgm:spPr/>
    </dgm:pt>
    <dgm:pt modelId="{E6ADAE5B-7BE3-47D9-954C-AFAB2B8871E7}" type="pres">
      <dgm:prSet presAssocID="{3749D620-CBE3-47A5-B4B1-DEC565B616A3}" presName="sibTrans" presStyleCnt="0"/>
      <dgm:spPr/>
    </dgm:pt>
    <dgm:pt modelId="{ECF8ED52-1DCA-4296-9E50-783D24E2DA3D}" type="pres">
      <dgm:prSet presAssocID="{FE9091A9-FFDE-410C-A873-72447D5B4F34}" presName="node" presStyleLbl="node1" presStyleIdx="1" presStyleCnt="5">
        <dgm:presLayoutVars>
          <dgm:bulletEnabled val="1"/>
        </dgm:presLayoutVars>
      </dgm:prSet>
      <dgm:spPr/>
    </dgm:pt>
    <dgm:pt modelId="{67449658-5EB4-468E-B116-BFE43856C590}" type="pres">
      <dgm:prSet presAssocID="{4C807FBC-0970-452B-B17E-B461C8679D4F}" presName="sibTrans" presStyleCnt="0"/>
      <dgm:spPr/>
    </dgm:pt>
    <dgm:pt modelId="{3102A387-7036-4C50-93B0-81F2B8CA9634}" type="pres">
      <dgm:prSet presAssocID="{636F504E-C8FE-4704-9C60-762117A54285}" presName="node" presStyleLbl="node1" presStyleIdx="2" presStyleCnt="5">
        <dgm:presLayoutVars>
          <dgm:bulletEnabled val="1"/>
        </dgm:presLayoutVars>
      </dgm:prSet>
      <dgm:spPr/>
    </dgm:pt>
    <dgm:pt modelId="{FEFC6756-D454-4DC2-A0C2-D62671A1A0EF}" type="pres">
      <dgm:prSet presAssocID="{89A76823-8A91-4A29-92C1-DB566B271059}" presName="sibTrans" presStyleCnt="0"/>
      <dgm:spPr/>
    </dgm:pt>
    <dgm:pt modelId="{0EE4FDC5-4F5E-4B47-8DAD-E117225C6F27}" type="pres">
      <dgm:prSet presAssocID="{A13476C5-80F3-42F6-8ADB-E13BC7B209F7}" presName="node" presStyleLbl="node1" presStyleIdx="3" presStyleCnt="5">
        <dgm:presLayoutVars>
          <dgm:bulletEnabled val="1"/>
        </dgm:presLayoutVars>
      </dgm:prSet>
      <dgm:spPr/>
    </dgm:pt>
    <dgm:pt modelId="{7901A760-3F5B-4591-8A82-2C83D749120D}" type="pres">
      <dgm:prSet presAssocID="{A16C3265-AF62-4BB1-9E6B-F0C29E52C5D0}" presName="sibTrans" presStyleCnt="0"/>
      <dgm:spPr/>
    </dgm:pt>
    <dgm:pt modelId="{4A64B00A-5C67-48E8-B2D3-40D85AFA1261}" type="pres">
      <dgm:prSet presAssocID="{3727A8D5-87B0-40B8-97BB-EA7C1A4B24A4}" presName="node" presStyleLbl="node1" presStyleIdx="4" presStyleCnt="5">
        <dgm:presLayoutVars>
          <dgm:bulletEnabled val="1"/>
        </dgm:presLayoutVars>
      </dgm:prSet>
      <dgm:spPr/>
    </dgm:pt>
  </dgm:ptLst>
  <dgm:cxnLst>
    <dgm:cxn modelId="{E6CE3F00-C216-4069-AC22-7BBEDF5BEA1D}" srcId="{F2244558-F362-4E7C-BE00-A07AA34DDB70}" destId="{FE9091A9-FFDE-410C-A873-72447D5B4F34}" srcOrd="1" destOrd="0" parTransId="{3EF2BEDB-386C-4ECB-9465-C3B23837BD37}" sibTransId="{4C807FBC-0970-452B-B17E-B461C8679D4F}"/>
    <dgm:cxn modelId="{C7A8E619-6555-42BA-9F2F-71875E59C78D}" srcId="{F2244558-F362-4E7C-BE00-A07AA34DDB70}" destId="{12F3DF68-851F-4E31-8266-746C9F37008F}" srcOrd="0" destOrd="0" parTransId="{BF9DB352-8BA9-4597-A127-CA340CE3CDE8}" sibTransId="{3749D620-CBE3-47A5-B4B1-DEC565B616A3}"/>
    <dgm:cxn modelId="{82177D27-ABA3-4C2A-BCC3-59476949BD4A}" type="presOf" srcId="{FE9091A9-FFDE-410C-A873-72447D5B4F34}" destId="{ECF8ED52-1DCA-4296-9E50-783D24E2DA3D}" srcOrd="0" destOrd="0" presId="urn:microsoft.com/office/officeart/2005/8/layout/default"/>
    <dgm:cxn modelId="{BECBBB2A-F34E-4484-BAAB-9315E6B142B8}" type="presOf" srcId="{12F3DF68-851F-4E31-8266-746C9F37008F}" destId="{7CFF210F-77D3-403B-9852-CACC12ACC897}" srcOrd="0" destOrd="0" presId="urn:microsoft.com/office/officeart/2005/8/layout/default"/>
    <dgm:cxn modelId="{E3E48D73-BFEB-4404-9215-0001B2E7F17E}" type="presOf" srcId="{636F504E-C8FE-4704-9C60-762117A54285}" destId="{3102A387-7036-4C50-93B0-81F2B8CA9634}" srcOrd="0" destOrd="0" presId="urn:microsoft.com/office/officeart/2005/8/layout/default"/>
    <dgm:cxn modelId="{F906F086-6803-477B-AC4E-4E23769C7587}" type="presOf" srcId="{F2244558-F362-4E7C-BE00-A07AA34DDB70}" destId="{CE680A85-A51F-43F1-A9C8-510822DA6613}" srcOrd="0" destOrd="0" presId="urn:microsoft.com/office/officeart/2005/8/layout/default"/>
    <dgm:cxn modelId="{3EE0E18E-77C8-48C4-919B-B1EB5AF412ED}" type="presOf" srcId="{3727A8D5-87B0-40B8-97BB-EA7C1A4B24A4}" destId="{4A64B00A-5C67-48E8-B2D3-40D85AFA1261}" srcOrd="0" destOrd="0" presId="urn:microsoft.com/office/officeart/2005/8/layout/default"/>
    <dgm:cxn modelId="{1FEDF295-61B0-4521-9BD1-28F49AFF7034}" srcId="{F2244558-F362-4E7C-BE00-A07AA34DDB70}" destId="{3727A8D5-87B0-40B8-97BB-EA7C1A4B24A4}" srcOrd="4" destOrd="0" parTransId="{EF2403AF-D76E-432A-BF25-01B24DE97711}" sibTransId="{660E6EF8-185C-455D-B42B-5AB38EB74AF3}"/>
    <dgm:cxn modelId="{FC50F4A3-725F-4A88-BA18-BFB9E530DCF2}" type="presOf" srcId="{A13476C5-80F3-42F6-8ADB-E13BC7B209F7}" destId="{0EE4FDC5-4F5E-4B47-8DAD-E117225C6F27}" srcOrd="0" destOrd="0" presId="urn:microsoft.com/office/officeart/2005/8/layout/default"/>
    <dgm:cxn modelId="{84FF31B1-021E-4E42-85F3-9BD1EF3B867B}" srcId="{F2244558-F362-4E7C-BE00-A07AA34DDB70}" destId="{636F504E-C8FE-4704-9C60-762117A54285}" srcOrd="2" destOrd="0" parTransId="{4669DDE1-A507-4C1F-8041-61ED638EB29F}" sibTransId="{89A76823-8A91-4A29-92C1-DB566B271059}"/>
    <dgm:cxn modelId="{DBF069F2-2342-48C5-B66B-6695C131CFBC}" srcId="{F2244558-F362-4E7C-BE00-A07AA34DDB70}" destId="{A13476C5-80F3-42F6-8ADB-E13BC7B209F7}" srcOrd="3" destOrd="0" parTransId="{6CF03364-B29D-460A-8C74-D5731C4AF820}" sibTransId="{A16C3265-AF62-4BB1-9E6B-F0C29E52C5D0}"/>
    <dgm:cxn modelId="{3F4DA853-17CA-4172-AD58-46A277F80B66}" type="presParOf" srcId="{CE680A85-A51F-43F1-A9C8-510822DA6613}" destId="{7CFF210F-77D3-403B-9852-CACC12ACC897}" srcOrd="0" destOrd="0" presId="urn:microsoft.com/office/officeart/2005/8/layout/default"/>
    <dgm:cxn modelId="{2F4BF2DC-02D7-4EF9-AEA0-95ABEEB1A3F7}" type="presParOf" srcId="{CE680A85-A51F-43F1-A9C8-510822DA6613}" destId="{E6ADAE5B-7BE3-47D9-954C-AFAB2B8871E7}" srcOrd="1" destOrd="0" presId="urn:microsoft.com/office/officeart/2005/8/layout/default"/>
    <dgm:cxn modelId="{7FCDC94F-2F50-46EF-BCE8-3ED1A7912D2C}" type="presParOf" srcId="{CE680A85-A51F-43F1-A9C8-510822DA6613}" destId="{ECF8ED52-1DCA-4296-9E50-783D24E2DA3D}" srcOrd="2" destOrd="0" presId="urn:microsoft.com/office/officeart/2005/8/layout/default"/>
    <dgm:cxn modelId="{E9648521-0C9E-4142-87D7-0A6065BC76A8}" type="presParOf" srcId="{CE680A85-A51F-43F1-A9C8-510822DA6613}" destId="{67449658-5EB4-468E-B116-BFE43856C590}" srcOrd="3" destOrd="0" presId="urn:microsoft.com/office/officeart/2005/8/layout/default"/>
    <dgm:cxn modelId="{9CEE9F05-2B00-43EB-83B8-279F225CCB9C}" type="presParOf" srcId="{CE680A85-A51F-43F1-A9C8-510822DA6613}" destId="{3102A387-7036-4C50-93B0-81F2B8CA9634}" srcOrd="4" destOrd="0" presId="urn:microsoft.com/office/officeart/2005/8/layout/default"/>
    <dgm:cxn modelId="{4181F5B0-BEF4-479E-A9B1-A275234A658F}" type="presParOf" srcId="{CE680A85-A51F-43F1-A9C8-510822DA6613}" destId="{FEFC6756-D454-4DC2-A0C2-D62671A1A0EF}" srcOrd="5" destOrd="0" presId="urn:microsoft.com/office/officeart/2005/8/layout/default"/>
    <dgm:cxn modelId="{912DE44A-A921-4AD0-9D44-95708F517529}" type="presParOf" srcId="{CE680A85-A51F-43F1-A9C8-510822DA6613}" destId="{0EE4FDC5-4F5E-4B47-8DAD-E117225C6F27}" srcOrd="6" destOrd="0" presId="urn:microsoft.com/office/officeart/2005/8/layout/default"/>
    <dgm:cxn modelId="{665E26CE-B840-4222-A74A-465A8D168A69}" type="presParOf" srcId="{CE680A85-A51F-43F1-A9C8-510822DA6613}" destId="{7901A760-3F5B-4591-8A82-2C83D749120D}" srcOrd="7" destOrd="0" presId="urn:microsoft.com/office/officeart/2005/8/layout/default"/>
    <dgm:cxn modelId="{C50142D1-D4EE-4DEE-A313-0A8EB435E2EB}" type="presParOf" srcId="{CE680A85-A51F-43F1-A9C8-510822DA6613}" destId="{4A64B00A-5C67-48E8-B2D3-40D85AFA126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FF210F-77D3-403B-9852-CACC12ACC897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Beneficence: </a:t>
          </a:r>
          <a:r>
            <a:rPr lang="en-US" sz="2200" kern="1200"/>
            <a:t>Sustainability solutions should aim to produce overall benefits for society and the environment</a:t>
          </a:r>
        </a:p>
      </dsp:txBody>
      <dsp:txXfrm>
        <a:off x="0" y="39687"/>
        <a:ext cx="3286125" cy="1971675"/>
      </dsp:txXfrm>
    </dsp:sp>
    <dsp:sp modelId="{ECF8ED52-1DCA-4296-9E50-783D24E2DA3D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Non-maleficence: </a:t>
          </a:r>
          <a:r>
            <a:rPr lang="en-US" sz="2200" kern="1200"/>
            <a:t>Potential harms and risks should be identified and minimized</a:t>
          </a:r>
        </a:p>
      </dsp:txBody>
      <dsp:txXfrm>
        <a:off x="3614737" y="39687"/>
        <a:ext cx="3286125" cy="1971675"/>
      </dsp:txXfrm>
    </dsp:sp>
    <dsp:sp modelId="{3102A387-7036-4C50-93B0-81F2B8CA9634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Shared responsibility: </a:t>
          </a:r>
          <a:r>
            <a:rPr lang="en-US" sz="2200" kern="1200"/>
            <a:t>Sustainability challenges require coordinated action across multiple stakeholders</a:t>
          </a:r>
        </a:p>
      </dsp:txBody>
      <dsp:txXfrm>
        <a:off x="7229475" y="39687"/>
        <a:ext cx="3286125" cy="1971675"/>
      </dsp:txXfrm>
    </dsp:sp>
    <dsp:sp modelId="{0EE4FDC5-4F5E-4B47-8DAD-E117225C6F27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Intergenerational justice: </a:t>
          </a:r>
          <a:r>
            <a:rPr lang="en-US" sz="2200" kern="1200"/>
            <a:t>decisions today should consider the impacts on future generations</a:t>
          </a:r>
        </a:p>
      </dsp:txBody>
      <dsp:txXfrm>
        <a:off x="1807368" y="2339975"/>
        <a:ext cx="3286125" cy="1971675"/>
      </dsp:txXfrm>
    </dsp:sp>
    <dsp:sp modelId="{4A64B00A-5C67-48E8-B2D3-40D85AFA1261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Equity: </a:t>
          </a:r>
          <a:r>
            <a:rPr lang="en-US" sz="2200" kern="1200"/>
            <a:t>sustainability efforts should consider differences in access, resources, and capacity across groups</a:t>
          </a:r>
        </a:p>
      </dsp:txBody>
      <dsp:txXfrm>
        <a:off x="5422106" y="2339975"/>
        <a:ext cx="3286125" cy="1971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97819"/>
            <a:ext cx="58293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63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9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95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509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1631156"/>
            <a:ext cx="303014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1151335"/>
            <a:ext cx="303133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1631156"/>
            <a:ext cx="303133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600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35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147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04787"/>
            <a:ext cx="2256235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04788"/>
            <a:ext cx="3833813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076326"/>
            <a:ext cx="2256235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183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4025503"/>
            <a:ext cx="41148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79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32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05979"/>
            <a:ext cx="154305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05979"/>
            <a:ext cx="451485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30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E90C0-1F1E-44C6-9D87-6646C52F3989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0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C6CE4-1ED2-4104-8E4A-B03BCE0F7314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901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DB35F-9853-4C87-9440-B2675F46E035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82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8666-CC53-4666-B391-15EDA62AD078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55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7B37D-50F7-462E-9330-FFE464F23D8E}" type="datetime1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372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FC42-C622-45ED-A5B6-56813C09ECF1}" type="datetime1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355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5489-9034-4A7D-9F4C-F58FFC342A1C}" type="datetime1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028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FFAEB-522F-4229-AF3E-2FFF4BD25469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202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8E27-8ED0-45F6-AF49-4244F0706F64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0613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25CA-052D-4F16-A898-112FA0101325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114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CB07-2879-43D0-A466-1F6051099DC6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80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05979"/>
            <a:ext cx="6172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200151"/>
            <a:ext cx="61722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64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B59D1-1147-4B79-BD2B-9616D0C6808F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104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ytimes.com/interactive/2025/01/09/climate/2024-heat-record-climate-goal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k24cAkeQWx4" TargetMode="Externa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CAC684-A7FD-79D9-D7EF-2767DCC7846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144" r="8799" b="5523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076378-FADC-40A2-A7AE-1603E1498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MY" sz="4100" b="1" dirty="0">
                <a:latin typeface="+mn-lt"/>
              </a:rPr>
              <a:t>SIX1015 Science, Technology and Society Semester 2 2025/2026</a:t>
            </a:r>
            <a:endParaRPr lang="en-US" sz="41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A8C15-8018-484D-8BCD-2E6B295873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Autofit/>
          </a:bodyPr>
          <a:lstStyle/>
          <a:p>
            <a:pPr algn="l"/>
            <a:r>
              <a:rPr lang="en-MY" sz="3200" dirty="0"/>
              <a:t>Week 5 - Part 2: Science, Technology and Sustainable Futures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09A137-8D8C-4465-A861-F59E166A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CF2D47E-0AF1-4C27-801F-64E3E5BF7F72}" type="slidenum"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4369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2532" y="439041"/>
            <a:ext cx="11806936" cy="60856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03DF-34DF-8FAA-2FAA-494D7BC84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>
                <a:latin typeface="Aptos" panose="020B0004020202020204" pitchFamily="34" charset="0"/>
              </a:rPr>
              <a:t>Climate urgency </a:t>
            </a:r>
            <a:endParaRPr lang="en-MY" sz="2800" b="1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E6EE0-7DBD-A16F-C41A-B2CE4EB3C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924" y="1610524"/>
            <a:ext cx="4589698" cy="4578237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>
                <a:latin typeface="Aptos" panose="020B0004020202020204" pitchFamily="34" charset="0"/>
              </a:rPr>
              <a:t>Climate change is driven largely by human activities, especially through energy use and emissions.</a:t>
            </a:r>
          </a:p>
          <a:p>
            <a:pPr algn="just"/>
            <a:r>
              <a:rPr lang="en-US" dirty="0">
                <a:latin typeface="Aptos" panose="020B0004020202020204" pitchFamily="34" charset="0"/>
              </a:rPr>
              <a:t>According to assessments by the Intergovernmental Panel on Climate Change, limiting global warming to around 1.5°C above the preindustrial level is important to reduce the severity of climate impacts.</a:t>
            </a:r>
          </a:p>
          <a:p>
            <a:pPr algn="just"/>
            <a:r>
              <a:rPr lang="en-US" dirty="0">
                <a:latin typeface="Aptos" panose="020B0004020202020204" pitchFamily="34" charset="0"/>
              </a:rPr>
              <a:t>Increasing temperatures are associated with more extreme weather events, environmental degradation impacts on livelihoods and ecosystems.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C4E54-7E22-0828-B508-550274C0D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BB1E9B-FF3C-1248-9E25-5E698BC29FD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4626" y="1498435"/>
            <a:ext cx="6539906" cy="36841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007552-4981-6A84-B671-63A3FB02BDB7}"/>
              </a:ext>
            </a:extLst>
          </p:cNvPr>
          <p:cNvSpPr txBox="1"/>
          <p:nvPr/>
        </p:nvSpPr>
        <p:spPr>
          <a:xfrm>
            <a:off x="5720899" y="5242876"/>
            <a:ext cx="60969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>
                <a:hlinkClick r:id="rId3"/>
              </a:rPr>
              <a:t>https://www.nytimes.com/interactive/2025/01/09/climate/2024-heat-record-climate-goal.html</a:t>
            </a:r>
            <a:r>
              <a:rPr lang="en-MY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1948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7FDD2-C3A0-9695-2541-937CF6728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DE88BB-8E65-A850-DF1A-A750323B33A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40" y="0"/>
            <a:ext cx="109786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190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EC6A8-E071-63FA-AF8E-25EC607CC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Achieving Net Zero by 2050</a:t>
            </a:r>
            <a:endParaRPr lang="en-MY" sz="3200" b="1" dirty="0">
              <a:latin typeface="Aptos" panose="020B00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D6FCB93-7726-37A5-6708-FE7DAAFF09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7474" y="1304421"/>
            <a:ext cx="10577052" cy="45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In response to climate urgency, countries have committed to climate action through international processes such as the Paris Agreement.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These commitments are discussed and reviewed in ongoing global meetings known as Conference of the Parties (COP).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Within this context, many countries set targets related to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Net Zero emissions.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altLang="en-US" sz="2400" dirty="0">
                <a:latin typeface="Aptos" panose="020B0004020202020204" pitchFamily="34" charset="0"/>
              </a:rPr>
              <a:t>Net Zero refers to: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None/>
            </a:pPr>
            <a:r>
              <a:rPr lang="en-US" altLang="en-US" sz="2400" dirty="0">
                <a:latin typeface="Aptos" panose="020B0004020202020204" pitchFamily="34" charset="0"/>
              </a:rPr>
              <a:t>- reducing greenhouse gas emissions as much as possible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FontTx/>
              <a:buChar char="-"/>
            </a:pPr>
            <a:r>
              <a:rPr lang="en-US" altLang="en-US" sz="2400" dirty="0">
                <a:latin typeface="Aptos" panose="020B0004020202020204" pitchFamily="34" charset="0"/>
              </a:rPr>
              <a:t>balancing remaining emissions through removal or offset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None/>
            </a:pPr>
            <a:endParaRPr lang="en-US" altLang="en-US" sz="2400" dirty="0">
              <a:latin typeface="Aptos" panose="020B00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None/>
            </a:pPr>
            <a:r>
              <a:rPr lang="en-US" altLang="en-US" sz="2400" dirty="0">
                <a:latin typeface="Aptos" panose="020B0004020202020204" pitchFamily="34" charset="0"/>
              </a:rPr>
              <a:t>Please </a:t>
            </a:r>
            <a:r>
              <a:rPr lang="en-US" altLang="en-US" sz="2400">
                <a:latin typeface="Aptos" panose="020B0004020202020204" pitchFamily="34" charset="0"/>
              </a:rPr>
              <a:t>watch this video: </a:t>
            </a:r>
            <a:r>
              <a:rPr lang="en-US" altLang="en-US" sz="2400">
                <a:latin typeface="Aptos" panose="020B0004020202020204" pitchFamily="34" charset="0"/>
                <a:hlinkClick r:id="rId2"/>
              </a:rPr>
              <a:t>https://www.youtube.com/watch?v=k24cAkeQWx4</a:t>
            </a:r>
            <a:r>
              <a:rPr lang="en-US" altLang="en-US" sz="2400">
                <a:latin typeface="Aptos" panose="020B0004020202020204" pitchFamily="34" charset="0"/>
              </a:rPr>
              <a:t>  </a:t>
            </a:r>
            <a:endParaRPr lang="en-US" altLang="en-US" sz="2400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0B926-D059-F72B-3225-7BFB0983E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005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07" t="15194" r="3080" b="4654"/>
          <a:stretch>
            <a:fillRect/>
          </a:stretch>
        </p:blipFill>
        <p:spPr>
          <a:xfrm>
            <a:off x="401156" y="908499"/>
            <a:ext cx="11474245" cy="54510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89FD2-F694-987B-53FD-4C4C48150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>
                <a:latin typeface="Aptos" panose="020B0004020202020204" pitchFamily="34" charset="0"/>
              </a:rPr>
              <a:t>When deciding how to achieve sustainability, we often need to balance different values: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Environmental protection vs economic development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</a:rPr>
              <a:t>→ reducing emissions may limit industrial growth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Fairness vs efficiency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</a:rPr>
              <a:t>→ the most efficient solution may not be the most equitable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Short-term needs vs long-term outcomes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</a:rPr>
              <a:t>→ immediate benefits may conflict with future sustainability</a:t>
            </a:r>
          </a:p>
          <a:p>
            <a:pPr marL="0" indent="0" algn="just">
              <a:buNone/>
            </a:pPr>
            <a:endParaRPr lang="en-MY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F84CD-5108-2EB9-B701-C3BA1F504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48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050" b="5435"/>
          <a:stretch>
            <a:fillRect/>
          </a:stretch>
        </p:blipFill>
        <p:spPr>
          <a:xfrm>
            <a:off x="0" y="235973"/>
            <a:ext cx="12192000" cy="62238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1D2A6-48AC-4C89-874B-8BB0D7D81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Ethical principles in sustainability </a:t>
            </a:r>
            <a:endParaRPr lang="en-MY" sz="3200" b="1" dirty="0">
              <a:latin typeface="Aptos" panose="020B0004020202020204" pitchFamily="34" charset="0"/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4FB7F381-8B64-A8E2-FEE3-B3E0D56293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24353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96087-8F06-E9C4-016A-F0535E7A5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CF2D47E-0AF1-4C27-801F-64E3E5BF7F72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02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6ABAB-EB1E-85CB-3DF1-1CCCF081D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>
                <a:latin typeface="Aptos" panose="020B0004020202020204" pitchFamily="34" charset="0"/>
              </a:rPr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4686C-DF47-98AB-1560-809FE8227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Sustainability is not only about finding solutions.</a:t>
            </a:r>
          </a:p>
          <a:p>
            <a:r>
              <a:rPr lang="en-US" dirty="0">
                <a:latin typeface="Aptos" panose="020B0004020202020204" pitchFamily="34" charset="0"/>
              </a:rPr>
              <a:t>It involves: </a:t>
            </a:r>
          </a:p>
          <a:p>
            <a:pPr lvl="1"/>
            <a:r>
              <a:rPr lang="en-US" sz="2800" dirty="0">
                <a:latin typeface="Aptos" panose="020B0004020202020204" pitchFamily="34" charset="0"/>
              </a:rPr>
              <a:t>balancing different values </a:t>
            </a:r>
          </a:p>
          <a:p>
            <a:pPr lvl="1"/>
            <a:r>
              <a:rPr lang="en-US" sz="2800" dirty="0">
                <a:latin typeface="Aptos" panose="020B0004020202020204" pitchFamily="34" charset="0"/>
              </a:rPr>
              <a:t>considering impacts on different groups </a:t>
            </a:r>
          </a:p>
          <a:p>
            <a:pPr lvl="1"/>
            <a:r>
              <a:rPr lang="en-US" sz="2800" dirty="0">
                <a:latin typeface="Aptos" panose="020B0004020202020204" pitchFamily="34" charset="0"/>
              </a:rPr>
              <a:t>making decisions under real-world constraints </a:t>
            </a:r>
          </a:p>
          <a:p>
            <a:r>
              <a:rPr lang="en-US" dirty="0">
                <a:latin typeface="Aptos" panose="020B0004020202020204" pitchFamily="34" charset="0"/>
              </a:rPr>
              <a:t>There is often no perfect solution, only more thoughtful and responsible choices</a:t>
            </a:r>
          </a:p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1BCC8-8945-75DA-1557-18088DE92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30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84627-769B-EE53-FDB3-4F0771197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Aptos" panose="020B0004020202020204" pitchFamily="34" charset="0"/>
              </a:rPr>
              <a:t>Post-survey</a:t>
            </a:r>
            <a:r>
              <a:rPr lang="en-US" dirty="0">
                <a:latin typeface="Aptos" panose="020B0004020202020204" pitchFamily="34" charset="0"/>
              </a:rPr>
              <a:t> </a:t>
            </a:r>
            <a:endParaRPr lang="en-MY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6A9C0-1C3F-A977-A8C7-1432F9CFD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700401" cy="3731113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Aptos" panose="020B0004020202020204" pitchFamily="34" charset="0"/>
              </a:rPr>
              <a:t>We received 267 responses for pre-survey on 30 March 2026. </a:t>
            </a:r>
          </a:p>
          <a:p>
            <a:pPr algn="just"/>
            <a:r>
              <a:rPr lang="en-US" dirty="0">
                <a:latin typeface="Aptos" panose="020B0004020202020204" pitchFamily="34" charset="0"/>
              </a:rPr>
              <a:t>To those who answered the pre-survey, please complete this post-survey no later than Friday 10 April 2026:</a:t>
            </a:r>
          </a:p>
          <a:p>
            <a:pPr algn="just"/>
            <a:r>
              <a:rPr lang="en-US" dirty="0">
                <a:latin typeface="Aptos" panose="020B0004020202020204" pitchFamily="34" charset="0"/>
              </a:rPr>
              <a:t>Scan this QR code: </a:t>
            </a:r>
            <a:endParaRPr lang="en-MY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8CA58-EC12-19D8-3ED1-CA1AC4DE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A82D13-AA36-41C1-FF19-5C4C26E44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192" y="1599179"/>
            <a:ext cx="3311618" cy="331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04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414</Words>
  <Application>Microsoft Office PowerPoint</Application>
  <PresentationFormat>Widescreen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Office Theme</vt:lpstr>
      <vt:lpstr>Office 2013 - 2022 Theme</vt:lpstr>
      <vt:lpstr>SIX1015 Science, Technology and Society Semester 2 2025/2026</vt:lpstr>
      <vt:lpstr>PowerPoint Presentation</vt:lpstr>
      <vt:lpstr>Climate urgency </vt:lpstr>
      <vt:lpstr>PowerPoint Presentation</vt:lpstr>
      <vt:lpstr>Achieving Net Zero by 2050</vt:lpstr>
      <vt:lpstr>PowerPoint Presentation</vt:lpstr>
      <vt:lpstr>PowerPoint Presentation</vt:lpstr>
      <vt:lpstr>PowerPoint Presentation</vt:lpstr>
      <vt:lpstr>PowerPoint Presentation</vt:lpstr>
      <vt:lpstr>Ethical principles in sustainability </vt:lpstr>
      <vt:lpstr>Key takeaways</vt:lpstr>
      <vt:lpstr>Post-survey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noor munirah isa</dc:creator>
  <cp:lastModifiedBy>noor munirah isa</cp:lastModifiedBy>
  <cp:revision>29</cp:revision>
  <dcterms:created xsi:type="dcterms:W3CDTF">2026-04-05T15:46:15Z</dcterms:created>
  <dcterms:modified xsi:type="dcterms:W3CDTF">2026-04-08T00:00:00Z</dcterms:modified>
</cp:coreProperties>
</file>