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sldIdLst>
    <p:sldId id="257" r:id="rId4"/>
    <p:sldId id="282" r:id="rId5"/>
    <p:sldId id="258" r:id="rId6"/>
    <p:sldId id="284" r:id="rId7"/>
    <p:sldId id="285" r:id="rId8"/>
    <p:sldId id="260" r:id="rId9"/>
    <p:sldId id="261" r:id="rId10"/>
    <p:sldId id="262" r:id="rId11"/>
    <p:sldId id="288" r:id="rId12"/>
    <p:sldId id="263" r:id="rId13"/>
    <p:sldId id="267" r:id="rId14"/>
    <p:sldId id="268" r:id="rId15"/>
    <p:sldId id="264" r:id="rId16"/>
    <p:sldId id="26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423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23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73F095-D2B7-E28C-3B24-7E840ABD3F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C2331E-8334-8C0F-ED5C-CE8FEEC554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0F6E0-CC69-F1F1-44D8-BE6EFB4F8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CE0F8-0182-4D36-8E1D-D30A54DC5195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AF22B-598A-5F51-976E-5FB3C1A8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C5CEED-089A-157D-5D65-0F031592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80960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13FD-DEE5-D223-922D-2C90C6B2F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19A20-E44D-F08C-AB6A-39D8BBD3D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168C0-785D-E5BE-F26D-9EE8F43EC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9FEFBB-9C38-49A5-92DC-A8AE218AD678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E36CC-944E-6D30-9C6D-05428F797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C2F51-6FFD-B17C-3DF4-8FECF9FC6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520834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F4C3E-9A13-BBA2-9C0D-43D70C4BE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03A0E-AEC7-9A10-6CE8-1817E1063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45AE91-5EDA-A518-39BE-17FEEBA5A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5921A-E4C3-4DFF-8C98-61C2C175BFF6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5860C-FC0B-187C-DB2F-303F2ECDA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325AFE-4962-440A-FA6E-342F1B9F5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02466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5897-4926-2666-BCDF-881D50BF9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AE283-959A-03A2-88D6-7E1B15FCB2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071D7-12A2-7BA4-DC5B-6A23BEDB0B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F6F92C-3F53-94A7-C580-86578323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E3404-2A60-4673-97BD-A5C5607238A8}" type="datetime1">
              <a:rPr lang="en-MY" smtClean="0"/>
              <a:t>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E4A7F7-4EA4-AD0F-43CF-C8A00602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7CFC44-64A7-E952-8D7A-C12F0F453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64517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24F40-AA9D-34A1-EF03-2DF78CA88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CD4A47-6493-21BD-F8A8-483A5F4F26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A768BC-517C-2597-82CF-7AA5EA13FF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33AE12-AE3D-7930-5F7E-31DC623EC85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7C1D186-713A-8349-6FC9-D237EDCE94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150816-EC63-3CD0-4058-F0E81770D6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C3BE3-51DE-4040-AE04-4CF79E9C4EFB}" type="datetime1">
              <a:rPr lang="en-MY" smtClean="0"/>
              <a:t>6/4/2026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A42522-E0D8-99E7-8C85-3B30A0A37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FDCB94-1A53-B39F-273F-609101D9D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67730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E25CF-F35C-9A1E-E960-88CF1F7C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6B0D32-4069-569C-784A-29D794A26D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89BC1-24AF-4049-B5EE-24AE8C175660}" type="datetime1">
              <a:rPr lang="en-MY" smtClean="0"/>
              <a:t>6/4/2026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F5F977-66BE-6C58-3ACC-11A18317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90404B-4B2D-4591-83CD-FF683D52D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90030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1F90E4-C003-1F10-27D2-3405B804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49CE-F0D3-4EFE-ADB3-3970E4F80E04}" type="datetime1">
              <a:rPr lang="en-MY" smtClean="0"/>
              <a:t>6/4/2026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B3F9B3-266B-0EC9-37A1-0E2678BCA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0A3C34-D2CF-F322-62EE-5C6EAF337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951216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F538D-04A7-479B-9713-8587AD81F1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31AB3-15C6-7A2F-08BE-1DEA2CBDB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4ED859-D819-4A5A-5403-C36EB7AE33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424B47-CCF4-ADC1-EBB5-A58526C7D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650CEF-7F39-425F-BAB9-3FF98B532670}" type="datetime1">
              <a:rPr lang="en-MY" smtClean="0"/>
              <a:t>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8B196D-2A3B-C8F8-30A8-53805F893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B2425E-3422-B18A-DD49-A2C32EFB4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94553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9CE8E-1235-56F0-6E51-68EA2C98F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CD2984-4C3F-564A-DC91-DB171AB78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7B2867-9660-04E0-2B03-DF470551CC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6E5A4-C2F0-ACBF-7846-5D9BA3E90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5DAC2-E342-4FA9-AE30-48EC5DDFC986}" type="datetime1">
              <a:rPr lang="en-MY" smtClean="0"/>
              <a:t>6/4/2026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EAB2D6-BED0-9F69-E79D-4A620FD4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2D2C10-43BC-7C21-8561-C283D0758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3608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9B50D-2F75-5E09-5CBA-81157BEC8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0E9803-DE9E-565B-743D-588999602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DB2EA8-EE00-32AC-3300-FCCB4C4C3D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39AF6-6A12-49AC-95C8-3A2382B4FA55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4B7513-3F61-92CD-E4A7-F65946732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51B024-C831-45C7-C953-35779D03B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18568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121B0D-B163-EEFA-A315-B7F3D08C9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F71B79-D19A-573C-82B1-64BBE1FB7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7E9E8-9B36-3515-1066-C24241B9C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CBE22-8E2D-4484-95AF-EC9AE710836A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72A13E-2EBA-87DD-ED8D-0A38F98C7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6732-11FF-F3AB-158A-5CA8E8CB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712664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E90C0-1F1E-44C6-9D87-6646C52F3989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389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C6CE4-1ED2-4104-8E4A-B03BCE0F7314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5333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CDB35F-9853-4C87-9440-B2675F46E03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9796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128666-CC53-4666-B391-15EDA62AD078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36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7B37D-50F7-462E-9330-FFE464F23D8E}" type="datetime1">
              <a:rPr lang="en-US" smtClean="0"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4193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92FC42-C622-45ED-A5B6-56813C09ECF1}" type="datetime1">
              <a:rPr lang="en-US" smtClean="0"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2433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AE5489-9034-4A7D-9F4C-F58FFC342A1C}" type="datetime1">
              <a:rPr lang="en-US" smtClean="0"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3930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AFFAEB-522F-4229-AF3E-2FFF4BD25469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07966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C8E27-8ED0-45F6-AF49-4244F0706F64}" type="datetime1">
              <a:rPr lang="en-US" smtClean="0"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76868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2725CA-052D-4F16-A898-112FA0101325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3124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DDCB07-2879-43D0-A466-1F6051099DC6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398709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597819"/>
            <a:ext cx="58293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2914650"/>
            <a:ext cx="48006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2937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86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3305176"/>
            <a:ext cx="58293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2180035"/>
            <a:ext cx="58293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5800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200151"/>
            <a:ext cx="302895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812138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151335"/>
            <a:ext cx="303014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1631156"/>
            <a:ext cx="303014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9" y="1151335"/>
            <a:ext cx="3031331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9" y="1631156"/>
            <a:ext cx="3031331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01228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2766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45708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04787"/>
            <a:ext cx="2256235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04788"/>
            <a:ext cx="3833813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076326"/>
            <a:ext cx="2256235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46343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3600450"/>
            <a:ext cx="41148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459581"/>
            <a:ext cx="41148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4025503"/>
            <a:ext cx="41148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947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27808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05979"/>
            <a:ext cx="154305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05979"/>
            <a:ext cx="451485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4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A34ADD-D2AB-C78E-3AAF-89E047D9B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55C0BD-61D1-DADF-6FDD-168775888A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8A53E8-05D6-0F68-C2A7-997C8E35A9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A0FF0F-114B-4EF6-A598-E3E8B1B523F4}" type="datetime1">
              <a:rPr lang="en-MY" smtClean="0"/>
              <a:t>6/4/2026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56E64-A2DB-F3B9-01CA-596E59B6B1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F39103-0E69-32FC-4D7E-B016313D8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881AEE-42A4-49C0-8085-B8D196A9381C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52321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6B59D1-1147-4B79-BD2B-9616D0C6808F}" type="datetime1">
              <a:rPr lang="en-US" smtClean="0"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74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05979"/>
            <a:ext cx="61722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200151"/>
            <a:ext cx="61722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050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5DCB5928-DC7D-4612-9922-441966E15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682C1161-1736-45EC-99B7-33F3CAE9D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59047" cy="6858000"/>
          </a:xfrm>
          <a:custGeom>
            <a:avLst/>
            <a:gdLst>
              <a:gd name="connsiteX0" fmla="*/ 0 w 4959047"/>
              <a:gd name="connsiteY0" fmla="*/ 0 h 6858000"/>
              <a:gd name="connsiteX1" fmla="*/ 4110127 w 4959047"/>
              <a:gd name="connsiteY1" fmla="*/ 0 h 6858000"/>
              <a:gd name="connsiteX2" fmla="*/ 4179024 w 4959047"/>
              <a:gd name="connsiteY2" fmla="*/ 123368 h 6858000"/>
              <a:gd name="connsiteX3" fmla="*/ 4959047 w 4959047"/>
              <a:gd name="connsiteY3" fmla="*/ 3429000 h 6858000"/>
              <a:gd name="connsiteX4" fmla="*/ 4179024 w 4959047"/>
              <a:gd name="connsiteY4" fmla="*/ 6734633 h 6858000"/>
              <a:gd name="connsiteX5" fmla="*/ 4110127 w 4959047"/>
              <a:gd name="connsiteY5" fmla="*/ 6858000 h 6858000"/>
              <a:gd name="connsiteX6" fmla="*/ 0 w 495904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59047" h="6858000">
                <a:moveTo>
                  <a:pt x="0" y="0"/>
                </a:moveTo>
                <a:lnTo>
                  <a:pt x="4110127" y="0"/>
                </a:lnTo>
                <a:lnTo>
                  <a:pt x="4179024" y="123368"/>
                </a:lnTo>
                <a:cubicBezTo>
                  <a:pt x="4668929" y="1045156"/>
                  <a:pt x="4959047" y="2189404"/>
                  <a:pt x="4959047" y="3429000"/>
                </a:cubicBezTo>
                <a:cubicBezTo>
                  <a:pt x="4959047" y="4668597"/>
                  <a:pt x="4668929" y="5812845"/>
                  <a:pt x="4179024" y="6734633"/>
                </a:cubicBezTo>
                <a:lnTo>
                  <a:pt x="411012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762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84D4DDB8-B68F-45B0-9F62-C4279996F6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948887" cy="6858000"/>
          </a:xfrm>
          <a:custGeom>
            <a:avLst/>
            <a:gdLst>
              <a:gd name="connsiteX0" fmla="*/ 0 w 4948887"/>
              <a:gd name="connsiteY0" fmla="*/ 0 h 6858000"/>
              <a:gd name="connsiteX1" fmla="*/ 4099967 w 4948887"/>
              <a:gd name="connsiteY1" fmla="*/ 0 h 6858000"/>
              <a:gd name="connsiteX2" fmla="*/ 4168864 w 4948887"/>
              <a:gd name="connsiteY2" fmla="*/ 123368 h 6858000"/>
              <a:gd name="connsiteX3" fmla="*/ 4948887 w 4948887"/>
              <a:gd name="connsiteY3" fmla="*/ 3429000 h 6858000"/>
              <a:gd name="connsiteX4" fmla="*/ 4168864 w 4948887"/>
              <a:gd name="connsiteY4" fmla="*/ 6734633 h 6858000"/>
              <a:gd name="connsiteX5" fmla="*/ 4099967 w 4948887"/>
              <a:gd name="connsiteY5" fmla="*/ 6858000 h 6858000"/>
              <a:gd name="connsiteX6" fmla="*/ 0 w 494888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48887" h="6858000">
                <a:moveTo>
                  <a:pt x="0" y="0"/>
                </a:moveTo>
                <a:lnTo>
                  <a:pt x="4099967" y="0"/>
                </a:lnTo>
                <a:lnTo>
                  <a:pt x="4168864" y="123368"/>
                </a:lnTo>
                <a:cubicBezTo>
                  <a:pt x="4658769" y="1045156"/>
                  <a:pt x="4948887" y="2189404"/>
                  <a:pt x="4948887" y="3429000"/>
                </a:cubicBezTo>
                <a:cubicBezTo>
                  <a:pt x="4948887" y="4668597"/>
                  <a:pt x="4658769" y="5812845"/>
                  <a:pt x="4168864" y="6734633"/>
                </a:cubicBezTo>
                <a:lnTo>
                  <a:pt x="4099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3076378-FADC-40A2-A7AE-1603E1498F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933306" cy="2685761"/>
          </a:xfrm>
        </p:spPr>
        <p:txBody>
          <a:bodyPr anchor="b">
            <a:normAutofit/>
          </a:bodyPr>
          <a:lstStyle/>
          <a:p>
            <a:pPr algn="l"/>
            <a:r>
              <a:rPr lang="en-MY" sz="3200" b="1" dirty="0">
                <a:latin typeface="+mn-lt"/>
              </a:rPr>
              <a:t>SIX1015 Science, Technology and Society Semester 2 2025/2026</a:t>
            </a:r>
            <a:endParaRPr lang="en-US" sz="3200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4A8C15-8018-484D-8BCD-2E6B29587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1" y="4124920"/>
            <a:ext cx="3933306" cy="1208141"/>
          </a:xfrm>
        </p:spPr>
        <p:txBody>
          <a:bodyPr>
            <a:noAutofit/>
          </a:bodyPr>
          <a:lstStyle/>
          <a:p>
            <a:pPr algn="l"/>
            <a:r>
              <a:rPr lang="en-MY" sz="3200" dirty="0"/>
              <a:t>Week 5 - Part 1: Ethical Implications of Science and Technology 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98ACBD-25C8-AD17-464D-D6EF6B4A4C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6868" y="771988"/>
            <a:ext cx="6408836" cy="504695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09A137-8D8C-4465-A861-F59E166A9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47810" y="6356350"/>
            <a:ext cx="1505989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1CF2D47E-0AF1-4C27-801F-64E3E5BF7F72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4369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C12B4-8421-9B16-8F69-F62EEC5C5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8" y="608417"/>
            <a:ext cx="10515600" cy="883109"/>
          </a:xfrm>
        </p:spPr>
        <p:txBody>
          <a:bodyPr>
            <a:normAutofit/>
          </a:bodyPr>
          <a:lstStyle/>
          <a:p>
            <a:r>
              <a:rPr lang="en-MY" sz="2800" b="1" dirty="0">
                <a:latin typeface="+mn-lt"/>
              </a:rPr>
              <a:t>Ethical implications of science, technology on society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177DA54-82CB-5305-6FCD-ABD8F5985110}"/>
              </a:ext>
            </a:extLst>
          </p:cNvPr>
          <p:cNvSpPr/>
          <p:nvPr/>
        </p:nvSpPr>
        <p:spPr>
          <a:xfrm>
            <a:off x="601734" y="3093053"/>
            <a:ext cx="2766798" cy="11798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Science and Technology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BE1E8F0-B466-849A-6A3B-FF0353C3BC37}"/>
              </a:ext>
            </a:extLst>
          </p:cNvPr>
          <p:cNvSpPr/>
          <p:nvPr/>
        </p:nvSpPr>
        <p:spPr>
          <a:xfrm>
            <a:off x="4343892" y="3010516"/>
            <a:ext cx="1752108" cy="1179871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Society </a:t>
            </a:r>
          </a:p>
        </p:txBody>
      </p:sp>
      <p:sp>
        <p:nvSpPr>
          <p:cNvPr id="6" name="Arrow: Curved Down 5">
            <a:extLst>
              <a:ext uri="{FF2B5EF4-FFF2-40B4-BE49-F238E27FC236}">
                <a16:creationId xmlns:a16="http://schemas.microsoft.com/office/drawing/2014/main" id="{E6726955-5BD8-7266-14BF-1AF438C3C10F}"/>
              </a:ext>
            </a:extLst>
          </p:cNvPr>
          <p:cNvSpPr/>
          <p:nvPr/>
        </p:nvSpPr>
        <p:spPr>
          <a:xfrm>
            <a:off x="2184729" y="2429953"/>
            <a:ext cx="3020469" cy="503872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MY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F0F45D8-A9E3-E0D6-157C-052B037A10DE}"/>
              </a:ext>
            </a:extLst>
          </p:cNvPr>
          <p:cNvSpPr/>
          <p:nvPr/>
        </p:nvSpPr>
        <p:spPr>
          <a:xfrm>
            <a:off x="7183939" y="1920657"/>
            <a:ext cx="4308003" cy="74585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Ethical </a:t>
            </a:r>
            <a:r>
              <a:rPr lang="en-MY" sz="2800" b="1" dirty="0">
                <a:solidFill>
                  <a:prstClr val="white"/>
                </a:solidFill>
                <a:latin typeface="Aptos" panose="02110004020202020204"/>
              </a:rPr>
              <a:t>implications</a:t>
            </a:r>
            <a:r>
              <a:rPr kumimoji="0" lang="en-MY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98366F99-E502-A084-3CC4-B806B93A4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881AEE-42A4-49C0-8085-B8D196A9381C}" type="slidenum">
              <a:rPr kumimoji="0" lang="en-MY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82000"/>
                  </a:prst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MY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82000"/>
                </a:prst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E8B7F8C-D9CD-E4BA-A5CD-F3C54927D7A7}"/>
              </a:ext>
            </a:extLst>
          </p:cNvPr>
          <p:cNvCxnSpPr>
            <a:cxnSpLocks/>
            <a:stCxn id="5" idx="6"/>
          </p:cNvCxnSpPr>
          <p:nvPr/>
        </p:nvCxnSpPr>
        <p:spPr>
          <a:xfrm>
            <a:off x="6096000" y="3600452"/>
            <a:ext cx="975360" cy="63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E1F607F-79A8-55A9-6B87-5F5106420BA1}"/>
              </a:ext>
            </a:extLst>
          </p:cNvPr>
          <p:cNvSpPr txBox="1"/>
          <p:nvPr/>
        </p:nvSpPr>
        <p:spPr>
          <a:xfrm>
            <a:off x="7183938" y="2795595"/>
            <a:ext cx="4308003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Ethical implications arise when science and technology: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Produce impacts on society and environment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Affect groups unequally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Involve risks and uncertainty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Raise questions of responsibility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Require justification of decisions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Influence trust and legitimacy</a:t>
            </a:r>
            <a:endParaRPr lang="en-MY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4BDE9E-170C-ABE3-9E27-9429051B9636}"/>
              </a:ext>
            </a:extLst>
          </p:cNvPr>
          <p:cNvSpPr txBox="1"/>
          <p:nvPr/>
        </p:nvSpPr>
        <p:spPr>
          <a:xfrm>
            <a:off x="1476805" y="5180863"/>
            <a:ext cx="372839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/>
              <a:t>Is it ethical? </a:t>
            </a:r>
          </a:p>
          <a:p>
            <a:pPr algn="just"/>
            <a:r>
              <a:rPr lang="en-US" sz="2800" dirty="0"/>
              <a:t>Should it be allowed?</a:t>
            </a:r>
            <a:endParaRPr lang="en-MY" sz="2800" dirty="0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886BB8A-1039-6251-BA1C-BFCF849A53BE}"/>
              </a:ext>
            </a:extLst>
          </p:cNvPr>
          <p:cNvCxnSpPr>
            <a:cxnSpLocks/>
          </p:cNvCxnSpPr>
          <p:nvPr/>
        </p:nvCxnSpPr>
        <p:spPr>
          <a:xfrm flipH="1">
            <a:off x="5279923" y="5368413"/>
            <a:ext cx="1904015" cy="42942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8206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52624" y="671891"/>
            <a:ext cx="11029602" cy="5671395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586C0A0E-F715-5349-51F1-AA0FFBDA3E02}"/>
              </a:ext>
            </a:extLst>
          </p:cNvPr>
          <p:cNvSpPr txBox="1">
            <a:spLocks/>
          </p:cNvSpPr>
          <p:nvPr/>
        </p:nvSpPr>
        <p:spPr>
          <a:xfrm>
            <a:off x="732011" y="671892"/>
            <a:ext cx="7190823" cy="113331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MY" sz="36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Case example: Cultured meat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DFB87-DED6-75F7-5B39-2C1256E2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+mn-lt"/>
              </a:rPr>
              <a:t>Making ethical decision </a:t>
            </a:r>
            <a:endParaRPr lang="en-MY" sz="32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0CEE4-B2BD-4FB8-6843-D6338AD43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MY" dirty="0"/>
              <a:t>How to evaluate whether cultured meat is acceptable?</a:t>
            </a:r>
          </a:p>
          <a:p>
            <a:r>
              <a:rPr lang="en-MY" dirty="0"/>
              <a:t>What principles or frameworks that can guide decision-making?</a:t>
            </a:r>
          </a:p>
          <a:p>
            <a:r>
              <a:rPr lang="en-MY" dirty="0"/>
              <a:t>What is the most appropriate decision?</a:t>
            </a:r>
          </a:p>
          <a:p>
            <a:r>
              <a:rPr lang="en-MY" dirty="0"/>
              <a:t>What would be the responsible course of action?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915EA-A444-028F-9674-6DE828089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4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6272802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6E08F-F3B5-A892-3280-4D7CD19A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012" y="786144"/>
            <a:ext cx="10515600" cy="1325563"/>
          </a:xfrm>
        </p:spPr>
        <p:txBody>
          <a:bodyPr>
            <a:normAutofit/>
          </a:bodyPr>
          <a:lstStyle/>
          <a:p>
            <a:r>
              <a:rPr lang="en-MY" sz="3600" b="1" dirty="0"/>
              <a:t>Sources of ethical judgements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3552A-FA2E-6F44-86C7-4B022AE23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5</a:t>
            </a:fld>
            <a:endParaRPr lang="en-MY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811510F-8AE3-39BC-9AB9-C3070688E18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2012" y="2196386"/>
            <a:ext cx="10884310" cy="372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92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552450" y="1428750"/>
            <a:ext cx="10972800" cy="48006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F73305C-D7BE-C04F-A695-FA286B702965}"/>
              </a:ext>
            </a:extLst>
          </p:cNvPr>
          <p:cNvSpPr txBox="1"/>
          <p:nvPr/>
        </p:nvSpPr>
        <p:spPr>
          <a:xfrm>
            <a:off x="652739" y="699004"/>
            <a:ext cx="7551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Main approach in ethics</a:t>
            </a:r>
            <a:endParaRPr lang="en-MY" sz="36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31809" y="1652020"/>
            <a:ext cx="10660134" cy="454267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51581A4-D3C5-B403-1F2E-2838F637DBA3}"/>
              </a:ext>
            </a:extLst>
          </p:cNvPr>
          <p:cNvSpPr txBox="1"/>
          <p:nvPr/>
        </p:nvSpPr>
        <p:spPr>
          <a:xfrm>
            <a:off x="652739" y="699004"/>
            <a:ext cx="7551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Four principles in bioethics </a:t>
            </a:r>
            <a:endParaRPr lang="en-MY" sz="36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2555" y="1663688"/>
            <a:ext cx="10146890" cy="45602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F01F5D-CCBC-0A54-6508-DE7B3C9F6E17}"/>
              </a:ext>
            </a:extLst>
          </p:cNvPr>
          <p:cNvSpPr txBox="1"/>
          <p:nvPr/>
        </p:nvSpPr>
        <p:spPr>
          <a:xfrm>
            <a:off x="652739" y="699004"/>
            <a:ext cx="106032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Applying the principles to the cultured meat case  </a:t>
            </a:r>
            <a:endParaRPr lang="en-MY" sz="36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B5F9C-AAC8-FFBB-6400-EB272DC83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latin typeface="Aptos" panose="020B0004020202020204" pitchFamily="34" charset="0"/>
              </a:rPr>
              <a:t>Moral Responsibility</a:t>
            </a:r>
            <a:endParaRPr lang="en-MY" sz="3200" dirty="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9F4C73-6DF1-F05B-8444-27F43A92B1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en-US" dirty="0"/>
              <a:t>Moral responsibility refers to: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Being accountable for actions and their consequences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Being answerable for outcomes that affect others </a:t>
            </a:r>
          </a:p>
          <a:p>
            <a:pPr algn="just">
              <a:buNone/>
            </a:pPr>
            <a:endParaRPr lang="en-US" dirty="0"/>
          </a:p>
          <a:p>
            <a:pPr algn="just">
              <a:buNone/>
            </a:pPr>
            <a:r>
              <a:rPr lang="en-US" dirty="0"/>
              <a:t>In science and technology: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Actions can have wide societal impacts 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dirty="0"/>
              <a:t>Responsibility is not limited to one individual </a:t>
            </a:r>
          </a:p>
          <a:p>
            <a:pPr marL="0" indent="0" algn="just">
              <a:buNone/>
            </a:pPr>
            <a:endParaRPr lang="en-MY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124BD-44BF-CF28-FE99-42F45F9D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1AEE-42A4-49C0-8085-B8D196A9381C}" type="slidenum">
              <a:rPr lang="en-MY" smtClean="0"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46912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18" t="2101" r="1718" b="2941"/>
          <a:stretch>
            <a:fillRect/>
          </a:stretch>
        </p:blipFill>
        <p:spPr>
          <a:xfrm>
            <a:off x="209550" y="171450"/>
            <a:ext cx="11772900" cy="64579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131692" y="526517"/>
            <a:ext cx="9928615" cy="58049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49103" y="978677"/>
            <a:ext cx="10000390" cy="53572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69491" y="1463040"/>
            <a:ext cx="10126906" cy="491416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220127B-E664-21B1-532A-1C940FF7CBFE}"/>
              </a:ext>
            </a:extLst>
          </p:cNvPr>
          <p:cNvSpPr txBox="1"/>
          <p:nvPr/>
        </p:nvSpPr>
        <p:spPr>
          <a:xfrm>
            <a:off x="1126777" y="660728"/>
            <a:ext cx="36693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Aptos" panose="020B0004020202020204" pitchFamily="34" charset="0"/>
              </a:rPr>
              <a:t>Why RRI? </a:t>
            </a:r>
            <a:endParaRPr lang="en-MY" sz="3600" b="1" dirty="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18564" y="418854"/>
            <a:ext cx="11515541" cy="602914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</TotalTime>
  <Words>186</Words>
  <Application>Microsoft Office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Calibri Light</vt:lpstr>
      <vt:lpstr>1_Office Theme</vt:lpstr>
      <vt:lpstr>Office 2013 - 2022 Theme</vt:lpstr>
      <vt:lpstr>Office Theme</vt:lpstr>
      <vt:lpstr>SIX1015 Science, Technology and Society Semester 2 2025/2026</vt:lpstr>
      <vt:lpstr>Ethical implications of science, technology on society</vt:lpstr>
      <vt:lpstr>PowerPoint Presentation</vt:lpstr>
      <vt:lpstr>Making ethical decision </vt:lpstr>
      <vt:lpstr>Sources of ethical judgements</vt:lpstr>
      <vt:lpstr>PowerPoint Presentation</vt:lpstr>
      <vt:lpstr>PowerPoint Presentation</vt:lpstr>
      <vt:lpstr>PowerPoint Presentation</vt:lpstr>
      <vt:lpstr>Moral Responsibility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noor munirah isa</dc:creator>
  <cp:lastModifiedBy>noor munirah isa</cp:lastModifiedBy>
  <cp:revision>28</cp:revision>
  <dcterms:created xsi:type="dcterms:W3CDTF">2026-04-04T13:52:53Z</dcterms:created>
  <dcterms:modified xsi:type="dcterms:W3CDTF">2026-04-05T23:50:40Z</dcterms:modified>
</cp:coreProperties>
</file>