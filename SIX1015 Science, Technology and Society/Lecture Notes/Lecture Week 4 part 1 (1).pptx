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7" r:id="rId4"/>
    <p:sldId id="262" r:id="rId5"/>
    <p:sldId id="258" r:id="rId6"/>
    <p:sldId id="259" r:id="rId7"/>
    <p:sldId id="261" r:id="rId8"/>
    <p:sldId id="263" r:id="rId9"/>
    <p:sldId id="277" r:id="rId10"/>
    <p:sldId id="382" r:id="rId11"/>
    <p:sldId id="291" r:id="rId12"/>
    <p:sldId id="383" r:id="rId13"/>
    <p:sldId id="381" r:id="rId14"/>
    <p:sldId id="385" r:id="rId15"/>
    <p:sldId id="384" r:id="rId16"/>
    <p:sldId id="386" r:id="rId17"/>
    <p:sldId id="387" r:id="rId18"/>
    <p:sldId id="265" r:id="rId19"/>
    <p:sldId id="266" r:id="rId20"/>
    <p:sldId id="2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20F5A-26B9-453E-B9F8-B68B193667E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643B77-E494-498D-BE2A-E4A1A9D989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Study on social aspect of science-Science as a social institution</a:t>
          </a:r>
        </a:p>
      </dgm:t>
    </dgm:pt>
    <dgm:pt modelId="{0BF0AE40-AA9C-4F38-89AA-4C5A90DDCA4E}" type="parTrans" cxnId="{84439E32-A3AC-4515-A429-5AA08DFF747D}">
      <dgm:prSet/>
      <dgm:spPr/>
      <dgm:t>
        <a:bodyPr/>
        <a:lstStyle/>
        <a:p>
          <a:endParaRPr lang="en-US"/>
        </a:p>
      </dgm:t>
    </dgm:pt>
    <dgm:pt modelId="{9632C63D-8E16-4682-9201-CA58BDAB0B6C}" type="sibTrans" cxnId="{84439E32-A3AC-4515-A429-5AA08DFF747D}">
      <dgm:prSet/>
      <dgm:spPr/>
      <dgm:t>
        <a:bodyPr/>
        <a:lstStyle/>
        <a:p>
          <a:endParaRPr lang="en-US"/>
        </a:p>
      </dgm:t>
    </dgm:pt>
    <dgm:pt modelId="{EBD2F7AE-8178-4207-BBE4-4DE1449B81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sociology of science examines a variety of connected matters: </a:t>
          </a:r>
        </a:p>
      </dgm:t>
    </dgm:pt>
    <dgm:pt modelId="{ECCE9819-F7BE-41AD-BA90-A3DB5C7D4176}" type="parTrans" cxnId="{C8769FAA-70B9-4B5C-A952-D8C08F0C5017}">
      <dgm:prSet/>
      <dgm:spPr/>
      <dgm:t>
        <a:bodyPr/>
        <a:lstStyle/>
        <a:p>
          <a:endParaRPr lang="en-US"/>
        </a:p>
      </dgm:t>
    </dgm:pt>
    <dgm:pt modelId="{9E70BA4F-4ACB-4F7F-8EC6-E1AE572BA205}" type="sibTrans" cxnId="{C8769FAA-70B9-4B5C-A952-D8C08F0C5017}">
      <dgm:prSet/>
      <dgm:spPr/>
      <dgm:t>
        <a:bodyPr/>
        <a:lstStyle/>
        <a:p>
          <a:endParaRPr lang="en-US"/>
        </a:p>
      </dgm:t>
    </dgm:pt>
    <dgm:pt modelId="{8DCB4FB9-B760-466F-B547-47FBA3ADF5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dirty="0"/>
            <a:t>its</a:t>
          </a:r>
          <a:r>
            <a:rPr lang="en-US" i="1" dirty="0"/>
            <a:t> </a:t>
          </a:r>
          <a:r>
            <a:rPr lang="en-US" dirty="0"/>
            <a:t>social structure</a:t>
          </a:r>
        </a:p>
      </dgm:t>
    </dgm:pt>
    <dgm:pt modelId="{598D8AAF-AB96-434B-B453-FE62F067ECF8}" type="parTrans" cxnId="{7A00B7CC-B55B-4EAE-9D53-DDF400FBE69C}">
      <dgm:prSet/>
      <dgm:spPr/>
      <dgm:t>
        <a:bodyPr/>
        <a:lstStyle/>
        <a:p>
          <a:endParaRPr lang="en-US"/>
        </a:p>
      </dgm:t>
    </dgm:pt>
    <dgm:pt modelId="{76C32EC9-D6B1-486A-8CC4-C96FE6F4BCF8}" type="sibTrans" cxnId="{7A00B7CC-B55B-4EAE-9D53-DDF400FBE69C}">
      <dgm:prSet/>
      <dgm:spPr/>
      <dgm:t>
        <a:bodyPr/>
        <a:lstStyle/>
        <a:p>
          <a:endParaRPr lang="en-US"/>
        </a:p>
      </dgm:t>
    </dgm:pt>
    <dgm:pt modelId="{62A6913D-6E9B-41E2-957D-DA3EC80F64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processes involved in the production of scientific knowledge. </a:t>
          </a:r>
        </a:p>
      </dgm:t>
    </dgm:pt>
    <dgm:pt modelId="{D4DA109A-4D40-49A4-9A93-C648C5FFD48F}" type="parTrans" cxnId="{1FD03674-E7BC-4EA2-ABAC-C4C16E6FBAFC}">
      <dgm:prSet/>
      <dgm:spPr/>
      <dgm:t>
        <a:bodyPr/>
        <a:lstStyle/>
        <a:p>
          <a:endParaRPr lang="en-US"/>
        </a:p>
      </dgm:t>
    </dgm:pt>
    <dgm:pt modelId="{79385380-706E-4F5F-9920-009DB9101FDE}" type="sibTrans" cxnId="{1FD03674-E7BC-4EA2-ABAC-C4C16E6FBAFC}">
      <dgm:prSet/>
      <dgm:spPr/>
      <dgm:t>
        <a:bodyPr/>
        <a:lstStyle/>
        <a:p>
          <a:endParaRPr lang="en-US"/>
        </a:p>
      </dgm:t>
    </dgm:pt>
    <dgm:pt modelId="{45293F00-F11E-4701-AA86-A7D2AA4C64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effects of science on society; in turn. </a:t>
          </a:r>
        </a:p>
      </dgm:t>
    </dgm:pt>
    <dgm:pt modelId="{DB74DC0D-D886-4AA3-9DDB-95C06A16AEA1}" type="parTrans" cxnId="{13F40323-57CF-48F4-962E-A380EE85AA55}">
      <dgm:prSet/>
      <dgm:spPr/>
      <dgm:t>
        <a:bodyPr/>
        <a:lstStyle/>
        <a:p>
          <a:endParaRPr lang="en-US"/>
        </a:p>
      </dgm:t>
    </dgm:pt>
    <dgm:pt modelId="{018E228A-8295-4192-BFD6-73445CC338AF}" type="sibTrans" cxnId="{13F40323-57CF-48F4-962E-A380EE85AA55}">
      <dgm:prSet/>
      <dgm:spPr/>
      <dgm:t>
        <a:bodyPr/>
        <a:lstStyle/>
        <a:p>
          <a:endParaRPr lang="en-US"/>
        </a:p>
      </dgm:t>
    </dgm:pt>
    <dgm:pt modelId="{877C0CE4-50AE-4C05-A046-2611440440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ways in which it is conditioned by its social and cultural contexts</a:t>
          </a:r>
        </a:p>
      </dgm:t>
    </dgm:pt>
    <dgm:pt modelId="{17DD4EA8-F652-47F3-A067-26619D9317E3}" type="parTrans" cxnId="{BD484E6B-0F36-4E4F-9EC1-375587AB38F8}">
      <dgm:prSet/>
      <dgm:spPr/>
      <dgm:t>
        <a:bodyPr/>
        <a:lstStyle/>
        <a:p>
          <a:endParaRPr lang="en-US"/>
        </a:p>
      </dgm:t>
    </dgm:pt>
    <dgm:pt modelId="{1889ADDE-3BC3-4FD9-A5FE-9ACFDF25D0F2}" type="sibTrans" cxnId="{BD484E6B-0F36-4E4F-9EC1-375587AB38F8}">
      <dgm:prSet/>
      <dgm:spPr/>
      <dgm:t>
        <a:bodyPr/>
        <a:lstStyle/>
        <a:p>
          <a:endParaRPr lang="en-US"/>
        </a:p>
      </dgm:t>
    </dgm:pt>
    <dgm:pt modelId="{51882C45-D2FB-482E-B28B-86ACD3599F6F}" type="pres">
      <dgm:prSet presAssocID="{3C320F5A-26B9-453E-B9F8-B68B193667E4}" presName="Name0" presStyleCnt="0">
        <dgm:presLayoutVars>
          <dgm:dir/>
          <dgm:resizeHandles val="exact"/>
        </dgm:presLayoutVars>
      </dgm:prSet>
      <dgm:spPr/>
    </dgm:pt>
    <dgm:pt modelId="{18D8F4FE-6F3F-4456-9FEE-6F0677D8D572}" type="pres">
      <dgm:prSet presAssocID="{E0643B77-E494-498D-BE2A-E4A1A9D989DF}" presName="node" presStyleLbl="node1" presStyleIdx="0" presStyleCnt="6">
        <dgm:presLayoutVars>
          <dgm:bulletEnabled val="1"/>
        </dgm:presLayoutVars>
      </dgm:prSet>
      <dgm:spPr/>
    </dgm:pt>
    <dgm:pt modelId="{7C61B2CE-795F-4166-81B5-BC57BD20EA29}" type="pres">
      <dgm:prSet presAssocID="{9632C63D-8E16-4682-9201-CA58BDAB0B6C}" presName="sibTrans" presStyleLbl="sibTrans1D1" presStyleIdx="0" presStyleCnt="5"/>
      <dgm:spPr/>
    </dgm:pt>
    <dgm:pt modelId="{354451DA-F438-42B9-9D00-F78F32700B1D}" type="pres">
      <dgm:prSet presAssocID="{9632C63D-8E16-4682-9201-CA58BDAB0B6C}" presName="connectorText" presStyleLbl="sibTrans1D1" presStyleIdx="0" presStyleCnt="5"/>
      <dgm:spPr/>
    </dgm:pt>
    <dgm:pt modelId="{3764E062-4F24-42FF-A024-09A912D7C532}" type="pres">
      <dgm:prSet presAssocID="{EBD2F7AE-8178-4207-BBE4-4DE1449B8170}" presName="node" presStyleLbl="node1" presStyleIdx="1" presStyleCnt="6" custLinFactNeighborX="1353" custLinFactNeighborY="-1503">
        <dgm:presLayoutVars>
          <dgm:bulletEnabled val="1"/>
        </dgm:presLayoutVars>
      </dgm:prSet>
      <dgm:spPr/>
    </dgm:pt>
    <dgm:pt modelId="{2BC0FEA7-1231-4DAE-8AF8-ECAE7994B2F6}" type="pres">
      <dgm:prSet presAssocID="{9E70BA4F-4ACB-4F7F-8EC6-E1AE572BA205}" presName="sibTrans" presStyleLbl="sibTrans1D1" presStyleIdx="1" presStyleCnt="5"/>
      <dgm:spPr/>
    </dgm:pt>
    <dgm:pt modelId="{6B944AF5-0B2F-4E18-8FCD-F1FEB64910FA}" type="pres">
      <dgm:prSet presAssocID="{9E70BA4F-4ACB-4F7F-8EC6-E1AE572BA205}" presName="connectorText" presStyleLbl="sibTrans1D1" presStyleIdx="1" presStyleCnt="5"/>
      <dgm:spPr/>
    </dgm:pt>
    <dgm:pt modelId="{2ACBCC72-70B4-4F0D-8D6F-172119E1A711}" type="pres">
      <dgm:prSet presAssocID="{8DCB4FB9-B760-466F-B547-47FBA3ADF5A9}" presName="node" presStyleLbl="node1" presStyleIdx="2" presStyleCnt="6">
        <dgm:presLayoutVars>
          <dgm:bulletEnabled val="1"/>
        </dgm:presLayoutVars>
      </dgm:prSet>
      <dgm:spPr/>
    </dgm:pt>
    <dgm:pt modelId="{0FC211EF-7AA4-4190-A854-F4E17B840FAD}" type="pres">
      <dgm:prSet presAssocID="{76C32EC9-D6B1-486A-8CC4-C96FE6F4BCF8}" presName="sibTrans" presStyleLbl="sibTrans1D1" presStyleIdx="2" presStyleCnt="5"/>
      <dgm:spPr/>
    </dgm:pt>
    <dgm:pt modelId="{A7ECAFF1-1E47-4038-B12D-FEE78BEA9F90}" type="pres">
      <dgm:prSet presAssocID="{76C32EC9-D6B1-486A-8CC4-C96FE6F4BCF8}" presName="connectorText" presStyleLbl="sibTrans1D1" presStyleIdx="2" presStyleCnt="5"/>
      <dgm:spPr/>
    </dgm:pt>
    <dgm:pt modelId="{F70FA7F7-9C6B-40EE-9DF1-B8153206AAF9}" type="pres">
      <dgm:prSet presAssocID="{62A6913D-6E9B-41E2-957D-DA3EC80F6492}" presName="node" presStyleLbl="node1" presStyleIdx="3" presStyleCnt="6">
        <dgm:presLayoutVars>
          <dgm:bulletEnabled val="1"/>
        </dgm:presLayoutVars>
      </dgm:prSet>
      <dgm:spPr/>
    </dgm:pt>
    <dgm:pt modelId="{8CF8878C-80CE-41A1-9FA7-FC94F9E73D0B}" type="pres">
      <dgm:prSet presAssocID="{79385380-706E-4F5F-9920-009DB9101FDE}" presName="sibTrans" presStyleLbl="sibTrans1D1" presStyleIdx="3" presStyleCnt="5"/>
      <dgm:spPr/>
    </dgm:pt>
    <dgm:pt modelId="{139BFA3D-6E69-4DBF-9815-CC1C4BDD7974}" type="pres">
      <dgm:prSet presAssocID="{79385380-706E-4F5F-9920-009DB9101FDE}" presName="connectorText" presStyleLbl="sibTrans1D1" presStyleIdx="3" presStyleCnt="5"/>
      <dgm:spPr/>
    </dgm:pt>
    <dgm:pt modelId="{8DF15F49-7D69-4C49-835F-CFF8B8B94D44}" type="pres">
      <dgm:prSet presAssocID="{45293F00-F11E-4701-AA86-A7D2AA4C640E}" presName="node" presStyleLbl="node1" presStyleIdx="4" presStyleCnt="6">
        <dgm:presLayoutVars>
          <dgm:bulletEnabled val="1"/>
        </dgm:presLayoutVars>
      </dgm:prSet>
      <dgm:spPr/>
    </dgm:pt>
    <dgm:pt modelId="{40437838-BEC0-4BE9-95A5-AF9FE3A9A33D}" type="pres">
      <dgm:prSet presAssocID="{018E228A-8295-4192-BFD6-73445CC338AF}" presName="sibTrans" presStyleLbl="sibTrans1D1" presStyleIdx="4" presStyleCnt="5"/>
      <dgm:spPr/>
    </dgm:pt>
    <dgm:pt modelId="{9766B024-C0A5-4371-860B-18CAECCDAE2D}" type="pres">
      <dgm:prSet presAssocID="{018E228A-8295-4192-BFD6-73445CC338AF}" presName="connectorText" presStyleLbl="sibTrans1D1" presStyleIdx="4" presStyleCnt="5"/>
      <dgm:spPr/>
    </dgm:pt>
    <dgm:pt modelId="{E5197870-68FF-4BF5-9E0E-FC07F8EF6EF2}" type="pres">
      <dgm:prSet presAssocID="{877C0CE4-50AE-4C05-A046-26114404409F}" presName="node" presStyleLbl="node1" presStyleIdx="5" presStyleCnt="6">
        <dgm:presLayoutVars>
          <dgm:bulletEnabled val="1"/>
        </dgm:presLayoutVars>
      </dgm:prSet>
      <dgm:spPr/>
    </dgm:pt>
  </dgm:ptLst>
  <dgm:cxnLst>
    <dgm:cxn modelId="{7A348B07-BB7F-44FA-AB63-2DF120D97A1E}" type="presOf" srcId="{3C320F5A-26B9-453E-B9F8-B68B193667E4}" destId="{51882C45-D2FB-482E-B28B-86ACD3599F6F}" srcOrd="0" destOrd="0" presId="urn:microsoft.com/office/officeart/2016/7/layout/RepeatingBendingProcessNew"/>
    <dgm:cxn modelId="{2A6BB721-603A-4D8D-80C3-2617EF399534}" type="presOf" srcId="{9E70BA4F-4ACB-4F7F-8EC6-E1AE572BA205}" destId="{6B944AF5-0B2F-4E18-8FCD-F1FEB64910FA}" srcOrd="1" destOrd="0" presId="urn:microsoft.com/office/officeart/2016/7/layout/RepeatingBendingProcessNew"/>
    <dgm:cxn modelId="{E3086922-BBAA-4173-B6D6-77C3FA311D40}" type="presOf" srcId="{79385380-706E-4F5F-9920-009DB9101FDE}" destId="{139BFA3D-6E69-4DBF-9815-CC1C4BDD7974}" srcOrd="1" destOrd="0" presId="urn:microsoft.com/office/officeart/2016/7/layout/RepeatingBendingProcessNew"/>
    <dgm:cxn modelId="{13F40323-57CF-48F4-962E-A380EE85AA55}" srcId="{3C320F5A-26B9-453E-B9F8-B68B193667E4}" destId="{45293F00-F11E-4701-AA86-A7D2AA4C640E}" srcOrd="4" destOrd="0" parTransId="{DB74DC0D-D886-4AA3-9DDB-95C06A16AEA1}" sibTransId="{018E228A-8295-4192-BFD6-73445CC338AF}"/>
    <dgm:cxn modelId="{84DAEA25-7F90-4568-802D-DCEC30B00F77}" type="presOf" srcId="{76C32EC9-D6B1-486A-8CC4-C96FE6F4BCF8}" destId="{A7ECAFF1-1E47-4038-B12D-FEE78BEA9F90}" srcOrd="1" destOrd="0" presId="urn:microsoft.com/office/officeart/2016/7/layout/RepeatingBendingProcessNew"/>
    <dgm:cxn modelId="{62B17C2B-56F7-4D83-B838-EFC23DF44012}" type="presOf" srcId="{018E228A-8295-4192-BFD6-73445CC338AF}" destId="{40437838-BEC0-4BE9-95A5-AF9FE3A9A33D}" srcOrd="0" destOrd="0" presId="urn:microsoft.com/office/officeart/2016/7/layout/RepeatingBendingProcessNew"/>
    <dgm:cxn modelId="{7A19EF2E-C47F-4265-B556-A454EF661A83}" type="presOf" srcId="{877C0CE4-50AE-4C05-A046-26114404409F}" destId="{E5197870-68FF-4BF5-9E0E-FC07F8EF6EF2}" srcOrd="0" destOrd="0" presId="urn:microsoft.com/office/officeart/2016/7/layout/RepeatingBendingProcessNew"/>
    <dgm:cxn modelId="{84439E32-A3AC-4515-A429-5AA08DFF747D}" srcId="{3C320F5A-26B9-453E-B9F8-B68B193667E4}" destId="{E0643B77-E494-498D-BE2A-E4A1A9D989DF}" srcOrd="0" destOrd="0" parTransId="{0BF0AE40-AA9C-4F38-89AA-4C5A90DDCA4E}" sibTransId="{9632C63D-8E16-4682-9201-CA58BDAB0B6C}"/>
    <dgm:cxn modelId="{24F48435-3061-479D-992D-ECD39B84F577}" type="presOf" srcId="{76C32EC9-D6B1-486A-8CC4-C96FE6F4BCF8}" destId="{0FC211EF-7AA4-4190-A854-F4E17B840FAD}" srcOrd="0" destOrd="0" presId="urn:microsoft.com/office/officeart/2016/7/layout/RepeatingBendingProcessNew"/>
    <dgm:cxn modelId="{2CA0E839-B06F-4F02-B93C-FF24C2F68969}" type="presOf" srcId="{EBD2F7AE-8178-4207-BBE4-4DE1449B8170}" destId="{3764E062-4F24-42FF-A024-09A912D7C532}" srcOrd="0" destOrd="0" presId="urn:microsoft.com/office/officeart/2016/7/layout/RepeatingBendingProcessNew"/>
    <dgm:cxn modelId="{2C2BF543-ABB5-42A3-8554-774443DBC9A2}" type="presOf" srcId="{79385380-706E-4F5F-9920-009DB9101FDE}" destId="{8CF8878C-80CE-41A1-9FA7-FC94F9E73D0B}" srcOrd="0" destOrd="0" presId="urn:microsoft.com/office/officeart/2016/7/layout/RepeatingBendingProcessNew"/>
    <dgm:cxn modelId="{CC1B3B6B-2C64-4028-9F2E-566D5AAA31C5}" type="presOf" srcId="{9E70BA4F-4ACB-4F7F-8EC6-E1AE572BA205}" destId="{2BC0FEA7-1231-4DAE-8AF8-ECAE7994B2F6}" srcOrd="0" destOrd="0" presId="urn:microsoft.com/office/officeart/2016/7/layout/RepeatingBendingProcessNew"/>
    <dgm:cxn modelId="{BD484E6B-0F36-4E4F-9EC1-375587AB38F8}" srcId="{3C320F5A-26B9-453E-B9F8-B68B193667E4}" destId="{877C0CE4-50AE-4C05-A046-26114404409F}" srcOrd="5" destOrd="0" parTransId="{17DD4EA8-F652-47F3-A067-26619D9317E3}" sibTransId="{1889ADDE-3BC3-4FD9-A5FE-9ACFDF25D0F2}"/>
    <dgm:cxn modelId="{B2F8C56E-64A5-4402-89AA-126670817491}" type="presOf" srcId="{8DCB4FB9-B760-466F-B547-47FBA3ADF5A9}" destId="{2ACBCC72-70B4-4F0D-8D6F-172119E1A711}" srcOrd="0" destOrd="0" presId="urn:microsoft.com/office/officeart/2016/7/layout/RepeatingBendingProcessNew"/>
    <dgm:cxn modelId="{7B467771-1FEF-4406-9E22-86AB5CEF9D6B}" type="presOf" srcId="{45293F00-F11E-4701-AA86-A7D2AA4C640E}" destId="{8DF15F49-7D69-4C49-835F-CFF8B8B94D44}" srcOrd="0" destOrd="0" presId="urn:microsoft.com/office/officeart/2016/7/layout/RepeatingBendingProcessNew"/>
    <dgm:cxn modelId="{82381A54-305D-46DC-9DC2-C829D096BB89}" type="presOf" srcId="{018E228A-8295-4192-BFD6-73445CC338AF}" destId="{9766B024-C0A5-4371-860B-18CAECCDAE2D}" srcOrd="1" destOrd="0" presId="urn:microsoft.com/office/officeart/2016/7/layout/RepeatingBendingProcessNew"/>
    <dgm:cxn modelId="{1FD03674-E7BC-4EA2-ABAC-C4C16E6FBAFC}" srcId="{3C320F5A-26B9-453E-B9F8-B68B193667E4}" destId="{62A6913D-6E9B-41E2-957D-DA3EC80F6492}" srcOrd="3" destOrd="0" parTransId="{D4DA109A-4D40-49A4-9A93-C648C5FFD48F}" sibTransId="{79385380-706E-4F5F-9920-009DB9101FDE}"/>
    <dgm:cxn modelId="{E8F7E489-4B55-457B-826E-60582A8F14FC}" type="presOf" srcId="{9632C63D-8E16-4682-9201-CA58BDAB0B6C}" destId="{354451DA-F438-42B9-9D00-F78F32700B1D}" srcOrd="1" destOrd="0" presId="urn:microsoft.com/office/officeart/2016/7/layout/RepeatingBendingProcessNew"/>
    <dgm:cxn modelId="{C0F089A3-63D7-4F55-B99F-EA64A1276A63}" type="presOf" srcId="{62A6913D-6E9B-41E2-957D-DA3EC80F6492}" destId="{F70FA7F7-9C6B-40EE-9DF1-B8153206AAF9}" srcOrd="0" destOrd="0" presId="urn:microsoft.com/office/officeart/2016/7/layout/RepeatingBendingProcessNew"/>
    <dgm:cxn modelId="{C8769FAA-70B9-4B5C-A952-D8C08F0C5017}" srcId="{3C320F5A-26B9-453E-B9F8-B68B193667E4}" destId="{EBD2F7AE-8178-4207-BBE4-4DE1449B8170}" srcOrd="1" destOrd="0" parTransId="{ECCE9819-F7BE-41AD-BA90-A3DB5C7D4176}" sibTransId="{9E70BA4F-4ACB-4F7F-8EC6-E1AE572BA205}"/>
    <dgm:cxn modelId="{7A00B7CC-B55B-4EAE-9D53-DDF400FBE69C}" srcId="{3C320F5A-26B9-453E-B9F8-B68B193667E4}" destId="{8DCB4FB9-B760-466F-B547-47FBA3ADF5A9}" srcOrd="2" destOrd="0" parTransId="{598D8AAF-AB96-434B-B453-FE62F067ECF8}" sibTransId="{76C32EC9-D6B1-486A-8CC4-C96FE6F4BCF8}"/>
    <dgm:cxn modelId="{9A0327FA-0494-4BF3-9047-4747A87B0422}" type="presOf" srcId="{E0643B77-E494-498D-BE2A-E4A1A9D989DF}" destId="{18D8F4FE-6F3F-4456-9FEE-6F0677D8D572}" srcOrd="0" destOrd="0" presId="urn:microsoft.com/office/officeart/2016/7/layout/RepeatingBendingProcessNew"/>
    <dgm:cxn modelId="{0EE457FB-FDC1-4452-8074-CF0604E2EE96}" type="presOf" srcId="{9632C63D-8E16-4682-9201-CA58BDAB0B6C}" destId="{7C61B2CE-795F-4166-81B5-BC57BD20EA29}" srcOrd="0" destOrd="0" presId="urn:microsoft.com/office/officeart/2016/7/layout/RepeatingBendingProcessNew"/>
    <dgm:cxn modelId="{0D1471C4-EB60-4A2E-8010-A7219947BAA4}" type="presParOf" srcId="{51882C45-D2FB-482E-B28B-86ACD3599F6F}" destId="{18D8F4FE-6F3F-4456-9FEE-6F0677D8D572}" srcOrd="0" destOrd="0" presId="urn:microsoft.com/office/officeart/2016/7/layout/RepeatingBendingProcessNew"/>
    <dgm:cxn modelId="{4A5F1BF3-88BD-46E3-98F2-A6E9C7457E86}" type="presParOf" srcId="{51882C45-D2FB-482E-B28B-86ACD3599F6F}" destId="{7C61B2CE-795F-4166-81B5-BC57BD20EA29}" srcOrd="1" destOrd="0" presId="urn:microsoft.com/office/officeart/2016/7/layout/RepeatingBendingProcessNew"/>
    <dgm:cxn modelId="{401B3BC2-96BD-4AA5-8496-29DCE16FC757}" type="presParOf" srcId="{7C61B2CE-795F-4166-81B5-BC57BD20EA29}" destId="{354451DA-F438-42B9-9D00-F78F32700B1D}" srcOrd="0" destOrd="0" presId="urn:microsoft.com/office/officeart/2016/7/layout/RepeatingBendingProcessNew"/>
    <dgm:cxn modelId="{8BE16B8D-DACE-43EA-B6E7-38D8ED1EC727}" type="presParOf" srcId="{51882C45-D2FB-482E-B28B-86ACD3599F6F}" destId="{3764E062-4F24-42FF-A024-09A912D7C532}" srcOrd="2" destOrd="0" presId="urn:microsoft.com/office/officeart/2016/7/layout/RepeatingBendingProcessNew"/>
    <dgm:cxn modelId="{A0391801-E84C-44E6-9212-39D3C4556958}" type="presParOf" srcId="{51882C45-D2FB-482E-B28B-86ACD3599F6F}" destId="{2BC0FEA7-1231-4DAE-8AF8-ECAE7994B2F6}" srcOrd="3" destOrd="0" presId="urn:microsoft.com/office/officeart/2016/7/layout/RepeatingBendingProcessNew"/>
    <dgm:cxn modelId="{06801F6F-A79F-4792-936F-68EEDD7DDF78}" type="presParOf" srcId="{2BC0FEA7-1231-4DAE-8AF8-ECAE7994B2F6}" destId="{6B944AF5-0B2F-4E18-8FCD-F1FEB64910FA}" srcOrd="0" destOrd="0" presId="urn:microsoft.com/office/officeart/2016/7/layout/RepeatingBendingProcessNew"/>
    <dgm:cxn modelId="{B1112995-83CC-4B0B-9209-FC8F7E8C0D99}" type="presParOf" srcId="{51882C45-D2FB-482E-B28B-86ACD3599F6F}" destId="{2ACBCC72-70B4-4F0D-8D6F-172119E1A711}" srcOrd="4" destOrd="0" presId="urn:microsoft.com/office/officeart/2016/7/layout/RepeatingBendingProcessNew"/>
    <dgm:cxn modelId="{74A052AF-289B-4802-BD85-5710F55F8663}" type="presParOf" srcId="{51882C45-D2FB-482E-B28B-86ACD3599F6F}" destId="{0FC211EF-7AA4-4190-A854-F4E17B840FAD}" srcOrd="5" destOrd="0" presId="urn:microsoft.com/office/officeart/2016/7/layout/RepeatingBendingProcessNew"/>
    <dgm:cxn modelId="{EFDEA290-E6AD-4759-8365-11C2F64DFA85}" type="presParOf" srcId="{0FC211EF-7AA4-4190-A854-F4E17B840FAD}" destId="{A7ECAFF1-1E47-4038-B12D-FEE78BEA9F90}" srcOrd="0" destOrd="0" presId="urn:microsoft.com/office/officeart/2016/7/layout/RepeatingBendingProcessNew"/>
    <dgm:cxn modelId="{98BE044E-7907-4A61-8163-EC1330CC316F}" type="presParOf" srcId="{51882C45-D2FB-482E-B28B-86ACD3599F6F}" destId="{F70FA7F7-9C6B-40EE-9DF1-B8153206AAF9}" srcOrd="6" destOrd="0" presId="urn:microsoft.com/office/officeart/2016/7/layout/RepeatingBendingProcessNew"/>
    <dgm:cxn modelId="{3A1DD8B6-DC23-4D8B-A953-9AA34AAE99BD}" type="presParOf" srcId="{51882C45-D2FB-482E-B28B-86ACD3599F6F}" destId="{8CF8878C-80CE-41A1-9FA7-FC94F9E73D0B}" srcOrd="7" destOrd="0" presId="urn:microsoft.com/office/officeart/2016/7/layout/RepeatingBendingProcessNew"/>
    <dgm:cxn modelId="{817BC511-9A6D-4234-947E-C7DE2F926EA0}" type="presParOf" srcId="{8CF8878C-80CE-41A1-9FA7-FC94F9E73D0B}" destId="{139BFA3D-6E69-4DBF-9815-CC1C4BDD7974}" srcOrd="0" destOrd="0" presId="urn:microsoft.com/office/officeart/2016/7/layout/RepeatingBendingProcessNew"/>
    <dgm:cxn modelId="{6FCF8EC9-CF5C-43A4-8E13-CF673225E7FB}" type="presParOf" srcId="{51882C45-D2FB-482E-B28B-86ACD3599F6F}" destId="{8DF15F49-7D69-4C49-835F-CFF8B8B94D44}" srcOrd="8" destOrd="0" presId="urn:microsoft.com/office/officeart/2016/7/layout/RepeatingBendingProcessNew"/>
    <dgm:cxn modelId="{7E42DACB-425F-4678-8F2D-00B5CBA75223}" type="presParOf" srcId="{51882C45-D2FB-482E-B28B-86ACD3599F6F}" destId="{40437838-BEC0-4BE9-95A5-AF9FE3A9A33D}" srcOrd="9" destOrd="0" presId="urn:microsoft.com/office/officeart/2016/7/layout/RepeatingBendingProcessNew"/>
    <dgm:cxn modelId="{4FCAF2A1-9E24-46E6-ABF9-4CDF507A0078}" type="presParOf" srcId="{40437838-BEC0-4BE9-95A5-AF9FE3A9A33D}" destId="{9766B024-C0A5-4371-860B-18CAECCDAE2D}" srcOrd="0" destOrd="0" presId="urn:microsoft.com/office/officeart/2016/7/layout/RepeatingBendingProcessNew"/>
    <dgm:cxn modelId="{58D2FF43-0114-4BD3-9792-2DC5856F2E85}" type="presParOf" srcId="{51882C45-D2FB-482E-B28B-86ACD3599F6F}" destId="{E5197870-68FF-4BF5-9E0E-FC07F8EF6EF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1B2CE-795F-4166-81B5-BC57BD20EA29}">
      <dsp:nvSpPr>
        <dsp:cNvPr id="0" name=""/>
        <dsp:cNvSpPr/>
      </dsp:nvSpPr>
      <dsp:spPr>
        <a:xfrm>
          <a:off x="3155758" y="766268"/>
          <a:ext cx="6285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8994"/>
              </a:moveTo>
              <a:lnTo>
                <a:pt x="331372" y="48994"/>
              </a:lnTo>
              <a:lnTo>
                <a:pt x="331372" y="45720"/>
              </a:lnTo>
              <a:lnTo>
                <a:pt x="62854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3552" y="808875"/>
        <a:ext cx="32957" cy="6225"/>
      </dsp:txXfrm>
    </dsp:sp>
    <dsp:sp modelId="{18D8F4FE-6F3F-4456-9FEE-6F0677D8D572}">
      <dsp:nvSpPr>
        <dsp:cNvPr id="0" name=""/>
        <dsp:cNvSpPr/>
      </dsp:nvSpPr>
      <dsp:spPr>
        <a:xfrm>
          <a:off x="450929" y="3274"/>
          <a:ext cx="2706628" cy="1623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Study on social aspect of science-Science as a social institution</a:t>
          </a:r>
        </a:p>
      </dsp:txBody>
      <dsp:txXfrm>
        <a:off x="450929" y="3274"/>
        <a:ext cx="2706628" cy="1623977"/>
      </dsp:txXfrm>
    </dsp:sp>
    <dsp:sp modelId="{2BC0FEA7-1231-4DAE-8AF8-ECAE7994B2F6}">
      <dsp:nvSpPr>
        <dsp:cNvPr id="0" name=""/>
        <dsp:cNvSpPr/>
      </dsp:nvSpPr>
      <dsp:spPr>
        <a:xfrm>
          <a:off x="1804243" y="1622177"/>
          <a:ext cx="3365773" cy="595199"/>
        </a:xfrm>
        <a:custGeom>
          <a:avLst/>
          <a:gdLst/>
          <a:ahLst/>
          <a:cxnLst/>
          <a:rect l="0" t="0" r="0" b="0"/>
          <a:pathLst>
            <a:path>
              <a:moveTo>
                <a:pt x="3365773" y="0"/>
              </a:moveTo>
              <a:lnTo>
                <a:pt x="3365773" y="314699"/>
              </a:lnTo>
              <a:lnTo>
                <a:pt x="0" y="314699"/>
              </a:lnTo>
              <a:lnTo>
                <a:pt x="0" y="595199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1544" y="1916664"/>
        <a:ext cx="171172" cy="6225"/>
      </dsp:txXfrm>
    </dsp:sp>
    <dsp:sp modelId="{3764E062-4F24-42FF-A024-09A912D7C532}">
      <dsp:nvSpPr>
        <dsp:cNvPr id="0" name=""/>
        <dsp:cNvSpPr/>
      </dsp:nvSpPr>
      <dsp:spPr>
        <a:xfrm>
          <a:off x="3816703" y="0"/>
          <a:ext cx="2706628" cy="16239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sociology of science examines a variety of connected matters: </a:t>
          </a:r>
        </a:p>
      </dsp:txBody>
      <dsp:txXfrm>
        <a:off x="3816703" y="0"/>
        <a:ext cx="2706628" cy="1623977"/>
      </dsp:txXfrm>
    </dsp:sp>
    <dsp:sp modelId="{0FC211EF-7AA4-4190-A854-F4E17B840FAD}">
      <dsp:nvSpPr>
        <dsp:cNvPr id="0" name=""/>
        <dsp:cNvSpPr/>
      </dsp:nvSpPr>
      <dsp:spPr>
        <a:xfrm>
          <a:off x="3155758" y="3016044"/>
          <a:ext cx="5919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1924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36157" y="3058652"/>
        <a:ext cx="31126" cy="6225"/>
      </dsp:txXfrm>
    </dsp:sp>
    <dsp:sp modelId="{2ACBCC72-70B4-4F0D-8D6F-172119E1A711}">
      <dsp:nvSpPr>
        <dsp:cNvPr id="0" name=""/>
        <dsp:cNvSpPr/>
      </dsp:nvSpPr>
      <dsp:spPr>
        <a:xfrm>
          <a:off x="450929" y="2249776"/>
          <a:ext cx="2706628" cy="16239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dirty="0"/>
            <a:t>its</a:t>
          </a:r>
          <a:r>
            <a:rPr lang="en-US" sz="2100" i="1" kern="1200" dirty="0"/>
            <a:t> </a:t>
          </a:r>
          <a:r>
            <a:rPr lang="en-US" sz="2100" kern="1200" dirty="0"/>
            <a:t>social structure</a:t>
          </a:r>
        </a:p>
      </dsp:txBody>
      <dsp:txXfrm>
        <a:off x="450929" y="2249776"/>
        <a:ext cx="2706628" cy="1623977"/>
      </dsp:txXfrm>
    </dsp:sp>
    <dsp:sp modelId="{8CF8878C-80CE-41A1-9FA7-FC94F9E73D0B}">
      <dsp:nvSpPr>
        <dsp:cNvPr id="0" name=""/>
        <dsp:cNvSpPr/>
      </dsp:nvSpPr>
      <dsp:spPr>
        <a:xfrm>
          <a:off x="1804243" y="3871953"/>
          <a:ext cx="3329153" cy="591924"/>
        </a:xfrm>
        <a:custGeom>
          <a:avLst/>
          <a:gdLst/>
          <a:ahLst/>
          <a:cxnLst/>
          <a:rect l="0" t="0" r="0" b="0"/>
          <a:pathLst>
            <a:path>
              <a:moveTo>
                <a:pt x="3329153" y="0"/>
              </a:moveTo>
              <a:lnTo>
                <a:pt x="3329153" y="313062"/>
              </a:lnTo>
              <a:lnTo>
                <a:pt x="0" y="313062"/>
              </a:lnTo>
              <a:lnTo>
                <a:pt x="0" y="591924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84149" y="4164803"/>
        <a:ext cx="169342" cy="6225"/>
      </dsp:txXfrm>
    </dsp:sp>
    <dsp:sp modelId="{F70FA7F7-9C6B-40EE-9DF1-B8153206AAF9}">
      <dsp:nvSpPr>
        <dsp:cNvPr id="0" name=""/>
        <dsp:cNvSpPr/>
      </dsp:nvSpPr>
      <dsp:spPr>
        <a:xfrm>
          <a:off x="3780082" y="2249776"/>
          <a:ext cx="2706628" cy="16239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processes involved in the production of scientific knowledge. </a:t>
          </a:r>
        </a:p>
      </dsp:txBody>
      <dsp:txXfrm>
        <a:off x="3780082" y="2249776"/>
        <a:ext cx="2706628" cy="1623977"/>
      </dsp:txXfrm>
    </dsp:sp>
    <dsp:sp modelId="{40437838-BEC0-4BE9-95A5-AF9FE3A9A33D}">
      <dsp:nvSpPr>
        <dsp:cNvPr id="0" name=""/>
        <dsp:cNvSpPr/>
      </dsp:nvSpPr>
      <dsp:spPr>
        <a:xfrm>
          <a:off x="3155758" y="5262546"/>
          <a:ext cx="5919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1924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36157" y="5305154"/>
        <a:ext cx="31126" cy="6225"/>
      </dsp:txXfrm>
    </dsp:sp>
    <dsp:sp modelId="{8DF15F49-7D69-4C49-835F-CFF8B8B94D44}">
      <dsp:nvSpPr>
        <dsp:cNvPr id="0" name=""/>
        <dsp:cNvSpPr/>
      </dsp:nvSpPr>
      <dsp:spPr>
        <a:xfrm>
          <a:off x="450929" y="4496278"/>
          <a:ext cx="2706628" cy="162397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effects of science on society; in turn. </a:t>
          </a:r>
        </a:p>
      </dsp:txBody>
      <dsp:txXfrm>
        <a:off x="450929" y="4496278"/>
        <a:ext cx="2706628" cy="1623977"/>
      </dsp:txXfrm>
    </dsp:sp>
    <dsp:sp modelId="{E5197870-68FF-4BF5-9E0E-FC07F8EF6EF2}">
      <dsp:nvSpPr>
        <dsp:cNvPr id="0" name=""/>
        <dsp:cNvSpPr/>
      </dsp:nvSpPr>
      <dsp:spPr>
        <a:xfrm>
          <a:off x="3780082" y="4496278"/>
          <a:ext cx="2706628" cy="1623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627" tIns="139215" rIns="132627" bIns="139215" numCol="1" spcCol="1270" anchor="ctr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ways in which it is conditioned by its social and cultural contexts</a:t>
          </a:r>
        </a:p>
      </dsp:txBody>
      <dsp:txXfrm>
        <a:off x="3780082" y="4496278"/>
        <a:ext cx="2706628" cy="16239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90C0-1F1E-44C6-9D87-6646C52F3989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0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6CE4-1ED2-4104-8E4A-B03BCE0F731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B35F-9853-4C87-9440-B2675F46E035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4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8666-CC53-4666-B391-15EDA62AD078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2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B37D-50F7-462E-9330-FFE464F23D8E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9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2-C622-45ED-A5B6-56813C09ECF1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2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5489-9034-4A7D-9F4C-F58FFC342A1C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FAEB-522F-4229-AF3E-2FFF4BD2546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2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8E27-8ED0-45F6-AF49-4244F0706F64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25CA-052D-4F16-A898-112FA0101325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5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CB07-2879-43D0-A466-1F6051099DC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16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473B-0D63-7E49-C7FC-ED1EF6D4A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DA1BD-5E01-994D-3651-0E8FAF2DB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9399C-5AAA-3E96-B3C2-696E979C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6B31E-4EFA-4CD1-9747-23EFC99AD612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D37A2-BC60-6F66-D92D-2EB607AD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B90B-B58A-E177-2483-B4952FDE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21177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AEB6D-1151-705E-99FE-5E63C045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A34C-5D3F-8F56-2C52-4A4DF2CF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CEC2-B5F8-D97D-0A61-16EDB880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4946-7A70-442B-A162-C2FBED612B63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D3CD0-D467-D6AF-7AB8-48CD6C7B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65E2-AC4F-467A-0978-74CAFBD4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5182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A0DA-491B-B226-7425-4E4A4DBC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04C18-31A1-907E-DA4F-75187A982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FE891-8903-0B5E-F993-2A248523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4C39-D9FC-4536-9181-98C1DE89EA08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643C4-E581-8176-F497-975A66022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60DFF-10D3-E66A-6D6C-B9E56D89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6356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6C86-DC4D-55E5-B5A6-6620B6C6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194C5-66D8-FD2B-FBDA-E9F12C6A8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85C02-7F8F-2D32-A87E-59479EC93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23325-CE6F-71BA-A299-70A2EA18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9E2D-4C0A-4E36-AB85-3DA5B63C0BCD}" type="datetime1">
              <a:rPr lang="en-MY" smtClean="0"/>
              <a:t>30/3/2026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DD95B-EC40-8FC0-6C65-7155E58F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BFC2-BBAB-4687-BF18-0710E710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7802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DDEB-E00A-5378-62D1-41C35B10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CD1F2-E460-5E2A-54CE-85FF439DF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45D63-0704-FA4B-7A1E-4A228B630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22CD2-55AF-5B84-C518-EE4E337C6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B0C9E-E345-80B6-6520-F6AD859D5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BA7FE-820A-E07A-09C0-4D59459D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012F-1A75-4989-8B69-CEA7F3109A0A}" type="datetime1">
              <a:rPr lang="en-MY" smtClean="0"/>
              <a:t>30/3/2026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C1CF1-5884-4B5D-7A4F-EE0B9DB4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0BD40-34F2-7AE8-DD93-2BDDDBD6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0381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867C-104A-876C-8175-CFB4E307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5DF1-27C6-AC93-5767-32BCB81B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B49C9-43BC-4A09-B3DF-537EC2488487}" type="datetime1">
              <a:rPr lang="en-MY" smtClean="0"/>
              <a:t>30/3/2026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BD408-5684-F408-0242-A46A099D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987C7-3E29-6AFE-6A53-8D712886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62472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B8E05-AB85-0DC7-48D0-D095BA7F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16067-219D-4A65-AF28-8FC9C8F83097}" type="datetime1">
              <a:rPr lang="en-MY" smtClean="0"/>
              <a:t>30/3/2026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0667D-9732-A568-2FAB-B0299EAC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A7857-903F-18D2-6CBB-29A6B73C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4015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EBC4-4E8F-283A-6AF9-4FAFA871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F063-9F05-866A-44B2-B01EBD21C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21672-8841-F550-8517-C8F2932EB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746C-9276-5ACF-96FD-48A47886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193E-824B-4693-AFF1-47EBA289674E}" type="datetime1">
              <a:rPr lang="en-MY" smtClean="0"/>
              <a:t>30/3/2026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57684-61F0-2DA8-A25B-DF229967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D2159-788B-DD0C-E1B0-CD11D4C4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3044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9BC5-B70F-4588-8B9D-A0F4CE6D5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52C26-80DE-C830-06DA-61CD9FE4C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EBDAE-6BA3-379F-B652-C8DF69DEC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403F-3910-EFC9-EBDD-4D70601C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829B7-1374-444D-BD8F-475C71D2D074}" type="datetime1">
              <a:rPr lang="en-MY" smtClean="0"/>
              <a:t>30/3/2026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42215-D144-C798-210B-D0A5C1CC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6A5E5-4B21-793D-7C33-EFC6C1C0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33816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346E-4F37-CD62-3413-07A863F3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6DC1B-F5BA-C9D3-A0D0-088E7D901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EBA6-7D50-32CE-6727-DB51B1B7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D86A-E7BA-483F-B06C-536DBF0E50DF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353AB-767A-0FA5-333A-5A295C56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22E55-41AD-254C-5BD2-C737B30E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0186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0B223-8546-6684-2599-EA0C8C52D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3E6E8-F6A7-A288-C0A9-9847D141F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F973A-43F6-85F5-DAD9-29342716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ED828-BD05-4C79-A1A6-A15E4AC30291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5648-15C6-8CD7-08B5-D845B995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BF87-2348-E5D7-4C0C-3A5C7C28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7729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820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62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18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531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736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56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90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34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26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45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9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59D1-1147-4B79-BD2B-9616D0C6808F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4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9F25A-B459-1A76-0465-2224DD7C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FE09C-B0A4-2E2E-3AE8-6F363A12A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B03C-7D1F-B9C0-219C-2E0DC0736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21702-6384-43FE-BACB-F31A7417A8F6}" type="datetime1">
              <a:rPr lang="en-MY" smtClean="0"/>
              <a:t>30/3/2026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AA35B-24C8-ED05-13F1-5C56E98FB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5B0C5-2F26-DBA4-1521-7105085BB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60003-3AE3-4A5A-8780-CF1974DF314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312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7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1AF24-DF4C-E7C4-D509-18D605355C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76378-FADC-40A2-A7AE-1603E1498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MY" sz="4100" b="1">
                <a:latin typeface="+mn-lt"/>
              </a:rPr>
              <a:t>SIX1015 Science, Technology and Society Semester 2 2025/2026</a:t>
            </a:r>
            <a:endParaRPr lang="en-US" sz="4100" b="1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A8C15-8018-484D-8BCD-2E6B29587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en-MY" sz="3200" b="1" dirty="0"/>
              <a:t>Sociology of Science and </a:t>
            </a:r>
            <a:r>
              <a:rPr lang="en-MY" sz="3200" b="1"/>
              <a:t>Technology- part 1</a:t>
            </a:r>
            <a:endParaRPr lang="en-MY" sz="3200" b="1" dirty="0"/>
          </a:p>
          <a:p>
            <a:pPr algn="l"/>
            <a:endParaRPr lang="en-MY" sz="20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9A137-8D8C-4465-A861-F59E166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CF2D47E-0AF1-4C27-801F-64E3E5BF7F72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5BDE-FD7D-866B-39C1-8A72B1C6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About the study- Week 4 and 5</a:t>
            </a:r>
            <a:endParaRPr lang="en-MY" sz="2800" b="1" dirty="0">
              <a:latin typeface="Aptos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CFE4E-E18D-2E1E-160A-5C9BCE11C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3CEFD-F334-6A84-7D63-5E8227C8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8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AD45-BA46-598F-E876-9AFA629D9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Focus: how students learn to </a:t>
            </a:r>
            <a:r>
              <a:rPr lang="en-US" dirty="0" err="1"/>
              <a:t>analyse</a:t>
            </a:r>
            <a:r>
              <a:rPr lang="en-US" dirty="0"/>
              <a:t> issues related to science, technology, and sustainability</a:t>
            </a:r>
          </a:p>
          <a:p>
            <a:r>
              <a:rPr lang="en-US" dirty="0"/>
              <a:t>Participation is voluntary</a:t>
            </a:r>
          </a:p>
          <a:p>
            <a:r>
              <a:rPr lang="en-US" dirty="0"/>
              <a:t>It will not affect your grades</a:t>
            </a:r>
          </a:p>
          <a:p>
            <a:r>
              <a:rPr lang="en-US" dirty="0"/>
              <a:t>No personal or sensitive information is collected</a:t>
            </a:r>
          </a:p>
          <a:p>
            <a:r>
              <a:rPr lang="en-US" dirty="0"/>
              <a:t>Details are available in the Participation Information Sheet (PIS) in Spectrum</a:t>
            </a:r>
            <a:endParaRPr lang="en-MY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7F64C-0603-178D-82C9-63BED6DD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FE9CBB-FFFF-64E7-BDE7-2E921E75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78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B205-7277-B42A-FE15-B2A2473A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841B-AD59-BD2C-ECF3-CFE3995C8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are invited to complete:</a:t>
            </a:r>
          </a:p>
          <a:p>
            <a:r>
              <a:rPr lang="en-US" dirty="0"/>
              <a:t>a pre-survey (today)</a:t>
            </a:r>
          </a:p>
          <a:p>
            <a:r>
              <a:rPr lang="en-US" dirty="0"/>
              <a:t>a post-survey (Wednesday next week- 8 April)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activities and assignments may be </a:t>
            </a:r>
            <a:r>
              <a:rPr lang="en-US" dirty="0" err="1"/>
              <a:t>analysed</a:t>
            </a:r>
            <a:r>
              <a:rPr lang="en-US" dirty="0"/>
              <a:t> in an </a:t>
            </a:r>
            <a:r>
              <a:rPr lang="en-US" dirty="0" err="1"/>
              <a:t>anonymised</a:t>
            </a:r>
            <a:r>
              <a:rPr lang="en-US" dirty="0"/>
              <a:t> way.</a:t>
            </a:r>
          </a:p>
          <a:p>
            <a:pPr marL="0" indent="0">
              <a:buNone/>
            </a:pPr>
            <a:r>
              <a:rPr lang="en-US" dirty="0"/>
              <a:t>By completing the survey, you indicate your consent.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86F2-9DFB-CAF4-DE89-35A89A2A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4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DF0C-2BF6-D475-4CE1-693AE419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3814"/>
          </a:xfrm>
        </p:spPr>
        <p:txBody>
          <a:bodyPr>
            <a:normAutofit/>
          </a:bodyPr>
          <a:lstStyle/>
          <a:p>
            <a:r>
              <a:rPr lang="en-MY" sz="3200" b="1" dirty="0">
                <a:latin typeface="+mn-lt"/>
              </a:rPr>
              <a:t>Pre-Survey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E5D65-8AB7-B340-69AD-A7C97841C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7282"/>
            <a:ext cx="10515600" cy="43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link in Spectrum/ Scan the QR code below:</a:t>
            </a:r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58D4-C293-EDBF-DBCE-69906143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D070-4481-1CE7-5E88-DFD95E7C22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6583" y="2265352"/>
            <a:ext cx="3759591" cy="375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AC86-8BDF-9B61-61A4-DED00B0F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Sociology of Science and Technology</a:t>
            </a:r>
            <a:endParaRPr lang="en-MY" sz="32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837B3-648F-0DFE-2893-0E6F51941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81C14-F830-876B-AB5C-235338FF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3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EEE9-958C-4355-8B3E-B5B62369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5" y="673771"/>
            <a:ext cx="4358346" cy="1857052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latin typeface="+mn-lt"/>
              </a:rPr>
              <a:t>Definition and scope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ADC88D-600D-C5E4-E468-5E37EAE85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103320"/>
              </p:ext>
            </p:extLst>
          </p:nvPr>
        </p:nvGraphicFramePr>
        <p:xfrm>
          <a:off x="4872867" y="365760"/>
          <a:ext cx="6937641" cy="6123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82E6D3-6B24-4507-A8FB-82D8A0CF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2D47E-0AF1-4C27-801F-64E3E5BF7F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117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991" y="660728"/>
            <a:ext cx="11487027" cy="5344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1C38-E6A7-276A-FAE9-8DD29ABC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b="1" dirty="0"/>
              <a:t>Science is a social institution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038E2-19CB-1AD0-BAE3-BEA86E27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7493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Has rules, norms, and values (e.g. objectivity, peer review)</a:t>
            </a:r>
          </a:p>
          <a:p>
            <a:pPr algn="just"/>
            <a:r>
              <a:rPr lang="en-US" sz="2400" dirty="0"/>
              <a:t>Operates through structures and systems (e.g. universities, labs, funding bodies)</a:t>
            </a:r>
          </a:p>
          <a:p>
            <a:pPr algn="just"/>
            <a:r>
              <a:rPr lang="en-US" sz="2400" dirty="0"/>
              <a:t>Involves roles and authority (e.g. scientists, experts, journals)</a:t>
            </a:r>
          </a:p>
          <a:p>
            <a:pPr algn="just"/>
            <a:r>
              <a:rPr lang="en-US" sz="2400" dirty="0"/>
              <a:t>Is embedded in society and interacts with politics, economy, and culture</a:t>
            </a:r>
            <a:endParaRPr lang="en-MY" sz="2400" dirty="0"/>
          </a:p>
          <a:p>
            <a:pPr algn="just"/>
            <a:endParaRPr lang="en-MY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6787D-924A-4E4E-4265-F57FB233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760003-3AE3-4A5A-8780-CF1974DF314A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696A402-784B-5EA2-C944-FB8C07C3077E}"/>
              </a:ext>
            </a:extLst>
          </p:cNvPr>
          <p:cNvSpPr/>
          <p:nvPr/>
        </p:nvSpPr>
        <p:spPr>
          <a:xfrm>
            <a:off x="6935677" y="1825625"/>
            <a:ext cx="3907337" cy="3775587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D0DF537-D637-45E3-316B-7CDBF1FFB482}"/>
              </a:ext>
            </a:extLst>
          </p:cNvPr>
          <p:cNvSpPr/>
          <p:nvPr/>
        </p:nvSpPr>
        <p:spPr>
          <a:xfrm>
            <a:off x="8713262" y="3340574"/>
            <a:ext cx="1424652" cy="973009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459E4-4FA6-FAC7-ECAF-88A8C83B2559}"/>
              </a:ext>
            </a:extLst>
          </p:cNvPr>
          <p:cNvSpPr txBox="1"/>
          <p:nvPr/>
        </p:nvSpPr>
        <p:spPr>
          <a:xfrm>
            <a:off x="8918713" y="3631096"/>
            <a:ext cx="10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DBE59-EDA9-E485-F779-EDB0AB3C82EA}"/>
              </a:ext>
            </a:extLst>
          </p:cNvPr>
          <p:cNvSpPr txBox="1"/>
          <p:nvPr/>
        </p:nvSpPr>
        <p:spPr>
          <a:xfrm>
            <a:off x="7666214" y="2261160"/>
            <a:ext cx="122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Society </a:t>
            </a:r>
          </a:p>
        </p:txBody>
      </p:sp>
    </p:spTree>
    <p:extLst>
      <p:ext uri="{BB962C8B-B14F-4D97-AF65-F5344CB8AC3E}">
        <p14:creationId xmlns:p14="http://schemas.microsoft.com/office/powerpoint/2010/main" val="1865327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23767" y="1059130"/>
            <a:ext cx="9696517" cy="4881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88C0-779B-2BB7-A6F5-D02EE236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+mn-lt"/>
              </a:rPr>
              <a:t>Why Sociology of Science and Technology Matters?</a:t>
            </a:r>
            <a:endParaRPr lang="en-MY" sz="2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360B-BB12-9256-F824-43EB601C0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7810"/>
          </a:xfrm>
        </p:spPr>
        <p:txBody>
          <a:bodyPr/>
          <a:lstStyle/>
          <a:p>
            <a:r>
              <a:rPr lang="en-US" dirty="0"/>
              <a:t>Understanding the system</a:t>
            </a:r>
          </a:p>
          <a:p>
            <a:r>
              <a:rPr lang="en-US" dirty="0"/>
              <a:t>Understanding the human side</a:t>
            </a:r>
          </a:p>
          <a:p>
            <a:r>
              <a:rPr lang="en-US" dirty="0"/>
              <a:t>Think more critically about science</a:t>
            </a:r>
          </a:p>
          <a:p>
            <a:r>
              <a:rPr lang="en-MY" dirty="0"/>
              <a:t>Being a more responsible scientist</a:t>
            </a:r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7073-3850-4925-6F58-E7A138CB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760003-3AE3-4A5A-8780-CF1974DF314A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58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A6E2-EBC4-85F4-8876-A8DD32D9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Internal Sociology of Science</a:t>
            </a:r>
            <a:endParaRPr lang="en-MY" sz="44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44B05-F11B-F924-CBF6-852ECAA71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89795-0419-30AC-F815-B264A8CE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25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17523" y="1132470"/>
            <a:ext cx="9403572" cy="4389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3608" y="1279832"/>
            <a:ext cx="10205884" cy="51445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86857C-3318-0BB7-3EF2-C2CCA3630F76}"/>
              </a:ext>
            </a:extLst>
          </p:cNvPr>
          <p:cNvSpPr txBox="1"/>
          <p:nvPr/>
        </p:nvSpPr>
        <p:spPr>
          <a:xfrm>
            <a:off x="955695" y="648929"/>
            <a:ext cx="4902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Academic Flywheel </a:t>
            </a:r>
            <a:endParaRPr lang="en-MY" sz="32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51993" y="1946787"/>
            <a:ext cx="8447400" cy="37932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36D334-B30E-0D94-09D3-A2244BB42B4F}"/>
              </a:ext>
            </a:extLst>
          </p:cNvPr>
          <p:cNvSpPr txBox="1"/>
          <p:nvPr/>
        </p:nvSpPr>
        <p:spPr>
          <a:xfrm>
            <a:off x="2123767" y="1309657"/>
            <a:ext cx="6908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Mertonian Norms</a:t>
            </a:r>
            <a:endParaRPr lang="en-MY" sz="32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23" r="3275" b="2833"/>
          <a:stretch>
            <a:fillRect/>
          </a:stretch>
        </p:blipFill>
        <p:spPr>
          <a:xfrm>
            <a:off x="1628222" y="661816"/>
            <a:ext cx="9486164" cy="5534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22611" y="891396"/>
            <a:ext cx="8654354" cy="49725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7188-5A04-7344-D348-3B42FB9E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Quick activity </a:t>
            </a:r>
            <a:endParaRPr lang="en-MY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0814-74CF-5C53-3EDA-FBE65BF79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0" y="184785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Consider the development of Artificial Intelligence</a:t>
            </a:r>
            <a:r>
              <a:rPr lang="en-MY" sz="2400" dirty="0"/>
              <a:t> (AI) in your country</a:t>
            </a:r>
          </a:p>
          <a:p>
            <a:r>
              <a:rPr lang="en-US" sz="2400" dirty="0"/>
              <a:t>What is ONE factor that can influence AI research?</a:t>
            </a:r>
          </a:p>
          <a:p>
            <a:r>
              <a:rPr lang="en-US" sz="2400" dirty="0"/>
              <a:t>Type your answer in the chat — one word or short phrase is enough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EE0CF-BDD1-9204-A1D6-1470E9FF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60003-3AE3-4A5A-8780-CF1974DF314A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656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341</Words>
  <Application>Microsoft Office PowerPoint</Application>
  <PresentationFormat>Widescreen</PresentationFormat>
  <Paragraphs>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Office 2013 - 2022 Theme</vt:lpstr>
      <vt:lpstr>Office Theme</vt:lpstr>
      <vt:lpstr>1_Office Theme</vt:lpstr>
      <vt:lpstr>SIX1015 Science, Technology and Society Semester 2 2025/2026</vt:lpstr>
      <vt:lpstr>About the study- Week 4 and 5</vt:lpstr>
      <vt:lpstr>PowerPoint Presentation</vt:lpstr>
      <vt:lpstr>PowerPoint Presentation</vt:lpstr>
      <vt:lpstr>Pre-Survey</vt:lpstr>
      <vt:lpstr>Sociology of Science and Technology</vt:lpstr>
      <vt:lpstr>Definition and scope </vt:lpstr>
      <vt:lpstr>PowerPoint Presentation</vt:lpstr>
      <vt:lpstr>Science is a social institution</vt:lpstr>
      <vt:lpstr>PowerPoint Presentation</vt:lpstr>
      <vt:lpstr>Why Sociology of Science and Technology Matters?</vt:lpstr>
      <vt:lpstr>Internal Sociology of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activity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munirah isa</dc:creator>
  <cp:lastModifiedBy>noor munirah isa</cp:lastModifiedBy>
  <cp:revision>23</cp:revision>
  <dcterms:created xsi:type="dcterms:W3CDTF">2026-03-29T00:51:11Z</dcterms:created>
  <dcterms:modified xsi:type="dcterms:W3CDTF">2026-03-29T23:38:16Z</dcterms:modified>
</cp:coreProperties>
</file>